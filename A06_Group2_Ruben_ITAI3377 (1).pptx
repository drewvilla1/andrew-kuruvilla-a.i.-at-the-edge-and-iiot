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-1270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27559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00" b="1">
                <a:solidFill>
                  <a:srgbClr val="232266"/>
                </a:solidFill>
                <a:latin typeface="&quot;Alfa Slab One&quot;"/>
              </a:rPr>
              <a:t>IIoT Time Series Forecasting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559300"/>
            <a:ext cx="7239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Using Statistical Models and Variational Autoencoders for Industrial IoT Temperature Prediction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907168" y="5892800"/>
            <a:ext cx="7239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dirty="0">
                <a:solidFill>
                  <a:srgbClr val="000000"/>
                </a:solidFill>
                <a:latin typeface="Poppins"/>
              </a:rPr>
              <a:t>By Ruben Valenzuela</a:t>
            </a:r>
          </a:p>
          <a:p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Marques Roberson</a:t>
            </a:r>
          </a:p>
          <a:p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Ezra </a:t>
            </a:r>
            <a:r>
              <a:rPr lang="en-US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Bakatubia</a:t>
            </a:r>
            <a:endParaRPr lang="en-US" sz="11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Andrew Kuruvilla</a:t>
            </a:r>
          </a:p>
          <a:p>
            <a:pPr indent="0" algn="l">
              <a:lnSpc>
                <a:spcPct val="150000"/>
              </a:lnSpc>
              <a:defRPr/>
            </a:pPr>
            <a:endParaRPr lang="en-US" sz="2400" b="1" dirty="0">
              <a:solidFill>
                <a:srgbClr val="000000"/>
              </a:solidFill>
              <a:latin typeface="Poppins"/>
            </a:endParaRPr>
          </a:p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76300" y="60706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ITAI 3377 |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806700"/>
            <a:ext cx="14490700" cy="440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806700"/>
            <a:ext cx="4660900" cy="4406900"/>
          </a:xfrm>
          <a:prstGeom prst="roundRect">
            <a:avLst>
              <a:gd name="adj" fmla="val 31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30300" y="3060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2806700"/>
            <a:ext cx="4660900" cy="4406900"/>
          </a:xfrm>
          <a:prstGeom prst="roundRect">
            <a:avLst>
              <a:gd name="adj" fmla="val 31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45200" y="3060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2806700"/>
            <a:ext cx="4660900" cy="4406900"/>
          </a:xfrm>
          <a:prstGeom prst="roundRect">
            <a:avLst>
              <a:gd name="adj" fmla="val 31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960100" y="3060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1917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Introduction: Industrial IoT Forecasting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40640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What is IIoT?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40640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The Challenge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40640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Why It Matters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699000"/>
            <a:ext cx="41529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Industrial Internet of Things connects sensors, machines, and devices to collect and analyze real-time operational data for smarter decision-making.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46990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Accurately forecasting temperature patterns from IoT sensors to predict equipment behavior and prevent system failures.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46990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Time-series forecasting enables predictive maintenance, reduces downtime costs, and optimizes industrial operations through data-driven insights.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3314700"/>
            <a:ext cx="2413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3314700"/>
            <a:ext cx="2413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4100" y="33147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400300"/>
            <a:ext cx="14490700" cy="2730500"/>
          </a:xfrm>
          <a:prstGeom prst="roundRect">
            <a:avLst>
              <a:gd name="adj" fmla="val 279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400300"/>
            <a:ext cx="4610100" cy="2730500"/>
          </a:xfrm>
          <a:prstGeom prst="roundRect">
            <a:avLst>
              <a:gd name="adj" fmla="val 279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816600" y="2400300"/>
            <a:ext cx="4610100" cy="2730500"/>
          </a:xfrm>
          <a:prstGeom prst="roundRect">
            <a:avLst>
              <a:gd name="adj" fmla="val 279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744200" y="2400300"/>
            <a:ext cx="4610100" cy="2730500"/>
          </a:xfrm>
          <a:prstGeom prst="roundRect">
            <a:avLst>
              <a:gd name="adj" fmla="val 279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76300" y="5308600"/>
            <a:ext cx="14490700" cy="228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5308600"/>
            <a:ext cx="7112000" cy="2286000"/>
          </a:xfrm>
          <a:prstGeom prst="roundRect">
            <a:avLst>
              <a:gd name="adj" fmla="val 611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242300" y="5308600"/>
            <a:ext cx="7112000" cy="2286000"/>
          </a:xfrm>
          <a:prstGeom prst="roundRect">
            <a:avLst>
              <a:gd name="adj" fmla="val 611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1511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Dataset Overview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76300" y="33782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Total Entries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816600" y="33782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Timestamp Feature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744200" y="33782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Temperature Variable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5588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Data Source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09000" y="5588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Data Characteristics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2438400"/>
            <a:ext cx="4851400" cy="901700"/>
          </a:xfrm>
          <a:prstGeom prst="roundRect">
            <a:avLst>
              <a:gd name="adj" fmla="val 985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97K+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4000500"/>
            <a:ext cx="46101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97K+ total records collected from deployed sensors across multiple locations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5816600" y="2438400"/>
            <a:ext cx="4851400" cy="901700"/>
          </a:xfrm>
          <a:prstGeom prst="roundRect">
            <a:avLst>
              <a:gd name="adj" fmla="val 985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Enabled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5816600" y="4000500"/>
            <a:ext cx="46101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Consistent timestamp field present for each record enabling temporal analysis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744200" y="2438400"/>
            <a:ext cx="4851400" cy="901700"/>
          </a:xfrm>
          <a:prstGeom prst="roundRect">
            <a:avLst>
              <a:gd name="adj" fmla="val 985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Available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744200" y="4000500"/>
            <a:ext cx="46101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Primary measured variable capturing ambient temperature readings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43000" y="6210300"/>
            <a:ext cx="6578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Kaggle IoT Temperature Dataset containing real-world sensor measurements with consistent temporal resolution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509000" y="6210300"/>
            <a:ext cx="6578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Daily patterns and seasonal variations present in temperature readings, providing rich signal for forecasting models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997200"/>
            <a:ext cx="14490700" cy="402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997200"/>
            <a:ext cx="33782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29972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72000" y="2997200"/>
            <a:ext cx="33782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572000" y="29972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80400" y="2997200"/>
            <a:ext cx="33782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280400" y="29972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76100" y="2997200"/>
            <a:ext cx="33782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1976100" y="29972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5930900"/>
            <a:ext cx="144907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76300" y="59309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76300" y="2108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Data Preparation Pipeline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079500" y="3086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1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689100" y="3086100"/>
            <a:ext cx="25654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Timestamp Conversion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762500" y="3086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2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5397500" y="3086100"/>
            <a:ext cx="25654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Chronological Sort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458200" y="3086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3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093200" y="3086100"/>
            <a:ext cx="25654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Feature Engineering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2153900" y="30861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4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2801600" y="3086100"/>
            <a:ext cx="25654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Clean Data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54100" y="6019800"/>
            <a:ext cx="304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5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689100" y="6019800"/>
            <a:ext cx="13665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Train/Test Split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689100" y="4165600"/>
            <a:ext cx="25654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Convert to datetime format for proper temporal handling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397500" y="4165600"/>
            <a:ext cx="25654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Sort data by time to maintain sequence integrity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9093200" y="4165600"/>
            <a:ext cx="25654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Create lag features and rolling mean for trend capture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801600" y="3708400"/>
            <a:ext cx="25654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Remove missing values to ensure quality training set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689100" y="6642100"/>
            <a:ext cx="13665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80/20 split following standard practice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492500"/>
            <a:ext cx="144907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3492500"/>
            <a:ext cx="4660900" cy="3022600"/>
          </a:xfrm>
          <a:prstGeom prst="roundRect">
            <a:avLst>
              <a:gd name="adj" fmla="val 462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791200" y="3492500"/>
            <a:ext cx="4660900" cy="3022600"/>
          </a:xfrm>
          <a:prstGeom prst="roundRect">
            <a:avLst>
              <a:gd name="adj" fmla="val 462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706100" y="3492500"/>
            <a:ext cx="4660900" cy="3022600"/>
          </a:xfrm>
          <a:prstGeom prst="roundRect">
            <a:avLst>
              <a:gd name="adj" fmla="val 462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76300" y="26035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Model Selection: SeasonalNaive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30300" y="3746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Primary Model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45200" y="3746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Configuration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960100" y="3746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Why This Model?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43815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SeasonalNaive from StatsForecast library - leverages historical seasonal patterns for prediction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4381500"/>
            <a:ext cx="4152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Seasonal length = 24 periods, capturing daily temperature cycles in IoT sensor data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43815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Simple implementation, computationally efficient, interpretable results, and proven strong baseline for seasonal time-series patterns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40000"/>
            <a:ext cx="14490700" cy="2451100"/>
          </a:xfrm>
          <a:prstGeom prst="roundRect">
            <a:avLst>
              <a:gd name="adj" fmla="val 310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540000"/>
            <a:ext cx="4610100" cy="2451100"/>
          </a:xfrm>
          <a:prstGeom prst="roundRect">
            <a:avLst>
              <a:gd name="adj" fmla="val 310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816600" y="2540000"/>
            <a:ext cx="4610100" cy="2451100"/>
          </a:xfrm>
          <a:prstGeom prst="roundRect">
            <a:avLst>
              <a:gd name="adj" fmla="val 310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744200" y="2540000"/>
            <a:ext cx="4610100" cy="2451100"/>
          </a:xfrm>
          <a:prstGeom prst="roundRect">
            <a:avLst>
              <a:gd name="adj" fmla="val 310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76300" y="5181600"/>
            <a:ext cx="14490700" cy="228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5181600"/>
            <a:ext cx="4660900" cy="2286000"/>
          </a:xfrm>
          <a:prstGeom prst="roundRect">
            <a:avLst>
              <a:gd name="adj" fmla="val 611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5791200" y="5181600"/>
            <a:ext cx="4660900" cy="2286000"/>
          </a:xfrm>
          <a:prstGeom prst="roundRect">
            <a:avLst>
              <a:gd name="adj" fmla="val 611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706100" y="5181600"/>
            <a:ext cx="4660900" cy="2286000"/>
          </a:xfrm>
          <a:prstGeom prst="roundRect">
            <a:avLst>
              <a:gd name="adj" fmla="val 611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76300" y="1651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Model Performance Metrics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76300" y="40005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MAE (degrees)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816600" y="40005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RMSE (degrees)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0744200" y="40005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MSE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43000" y="5448300"/>
            <a:ext cx="4127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MAE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57900" y="5448300"/>
            <a:ext cx="4127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RMSE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972800" y="5448300"/>
            <a:ext cx="4127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Performance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" y="2590800"/>
            <a:ext cx="4851400" cy="1346200"/>
          </a:xfrm>
          <a:prstGeom prst="roundRect">
            <a:avLst>
              <a:gd name="adj" fmla="val 6603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78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4.65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" y="4622800"/>
            <a:ext cx="4610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4.65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5816600" y="2590800"/>
            <a:ext cx="4851400" cy="1346200"/>
          </a:xfrm>
          <a:prstGeom prst="roundRect">
            <a:avLst>
              <a:gd name="adj" fmla="val 6603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78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5.73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5816600" y="4622800"/>
            <a:ext cx="4610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5.73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744200" y="2590800"/>
            <a:ext cx="4851400" cy="1346200"/>
          </a:xfrm>
          <a:prstGeom prst="roundRect">
            <a:avLst>
              <a:gd name="adj" fmla="val 6603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78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32.83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744200" y="4622800"/>
            <a:ext cx="4610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32.83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43000" y="6070600"/>
            <a:ext cx="4127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Mean Absolute Error - average prediction deviation in temperature units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057900" y="6070600"/>
            <a:ext cx="4127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Root Mean Squared Error - interpretable metric penalizing larger errors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972800" y="6070600"/>
            <a:ext cx="4127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Strong baseline accuracy for IoT temperature forecasting task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314700"/>
            <a:ext cx="144907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3314700"/>
            <a:ext cx="48260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33147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02300" y="3314700"/>
            <a:ext cx="48260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702300" y="33147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541000" y="3314700"/>
            <a:ext cx="48260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541000" y="33147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314700"/>
            <a:ext cx="4826000" cy="990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00" y="3314700"/>
            <a:ext cx="4826000" cy="990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3314700"/>
            <a:ext cx="4826000" cy="990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6300" y="2425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Cross-Validation Strategy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622800"/>
            <a:ext cx="4318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Rolling-Origin Validation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956300" y="4622800"/>
            <a:ext cx="4318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Advantage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795000" y="4622800"/>
            <a:ext cx="4318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Results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5702300"/>
            <a:ext cx="4318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Preserves temporal order while testing on multiple time windows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5956300" y="5245100"/>
            <a:ext cx="4318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More reliable than simple split - tests generalization across different periods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795000" y="5245100"/>
            <a:ext cx="4318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Consistent performance confirmed - model not overfitting to single test set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00" y="3683000"/>
            <a:ext cx="241300" cy="241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00" y="36957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7000" y="36830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997200"/>
            <a:ext cx="14490700" cy="402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997200"/>
            <a:ext cx="4660900" cy="4025900"/>
          </a:xfrm>
          <a:prstGeom prst="roundRect">
            <a:avLst>
              <a:gd name="adj" fmla="val 34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30300" y="3251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2997200"/>
            <a:ext cx="4660900" cy="4025900"/>
          </a:xfrm>
          <a:prstGeom prst="roundRect">
            <a:avLst>
              <a:gd name="adj" fmla="val 34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45200" y="3251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2997200"/>
            <a:ext cx="4660900" cy="4025900"/>
          </a:xfrm>
          <a:prstGeom prst="roundRect">
            <a:avLst>
              <a:gd name="adj" fmla="val 347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960100" y="3251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2108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Variational Autoencoder for Data Augmentation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4254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What is VAE?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4254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Architecture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4254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Purpose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8895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Probabilistic generative model that learns the underlying distribution of time-series data to synthesize realistic samples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48895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Encoder compresses data into latent space, Decoder generates synthetic sequences from latent representations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48895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Generate synthetic temperature data for augmentation, hypothesizing improved model robustness with expanded training set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3492500"/>
            <a:ext cx="2413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492500"/>
            <a:ext cx="2413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4100" y="34925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819400"/>
            <a:ext cx="14490700" cy="1968500"/>
          </a:xfrm>
          <a:prstGeom prst="roundRect">
            <a:avLst>
              <a:gd name="adj" fmla="val 387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819400"/>
            <a:ext cx="7086600" cy="1968500"/>
          </a:xfrm>
          <a:prstGeom prst="roundRect">
            <a:avLst>
              <a:gd name="adj" fmla="val 387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280400" y="2819400"/>
            <a:ext cx="7086600" cy="1968500"/>
          </a:xfrm>
          <a:prstGeom prst="roundRect">
            <a:avLst>
              <a:gd name="adj" fmla="val 387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4965700"/>
            <a:ext cx="14490700" cy="326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76300" y="4965700"/>
            <a:ext cx="7112000" cy="3263900"/>
          </a:xfrm>
          <a:prstGeom prst="roundRect">
            <a:avLst>
              <a:gd name="adj" fmla="val 428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130300" y="5219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242300" y="4965700"/>
            <a:ext cx="7112000" cy="3263900"/>
          </a:xfrm>
          <a:prstGeom prst="roundRect">
            <a:avLst>
              <a:gd name="adj" fmla="val 428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496300" y="5219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76300" y="889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Results: Augmented Data Performance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76300" y="3784600"/>
            <a:ext cx="7086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Augmented MAE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280400" y="3784600"/>
            <a:ext cx="7086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Augmented RMSE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6223000"/>
            <a:ext cx="6604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Performance Declined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496300" y="6223000"/>
            <a:ext cx="6604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Root Cause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1778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After training VAE to generate synthetic temperature sequences and augmenting the training dataset, we evaluated the SeasonalNaive model performance on the same test set.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2844800"/>
            <a:ext cx="7442200" cy="901700"/>
          </a:xfrm>
          <a:prstGeom prst="roundRect">
            <a:avLst>
              <a:gd name="adj" fmla="val 985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5.22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" y="4419600"/>
            <a:ext cx="7086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5.22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280400" y="2844800"/>
            <a:ext cx="7442200" cy="901700"/>
          </a:xfrm>
          <a:prstGeom prst="roundRect">
            <a:avLst>
              <a:gd name="adj" fmla="val 985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6.18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280400" y="4419600"/>
            <a:ext cx="7086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6.18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6858000"/>
            <a:ext cx="6604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12% increase in MAE, 8% increase in RMSE compared to baseline model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496300" y="6858000"/>
            <a:ext cx="6604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VAE-generated sequences lacked realism - synthetic data did not capture true temperature dynamics effectively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5499100"/>
            <a:ext cx="177800" cy="17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300" y="54737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78100"/>
            <a:ext cx="14490700" cy="485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578100"/>
            <a:ext cx="4660900" cy="4851400"/>
          </a:xfrm>
          <a:prstGeom prst="roundRect">
            <a:avLst>
              <a:gd name="adj" fmla="val 2997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303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2578100"/>
            <a:ext cx="4660900" cy="4851400"/>
          </a:xfrm>
          <a:prstGeom prst="roundRect">
            <a:avLst>
              <a:gd name="adj" fmla="val 2997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452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2578100"/>
            <a:ext cx="4660900" cy="4851400"/>
          </a:xfrm>
          <a:prstGeom prst="roundRect">
            <a:avLst>
              <a:gd name="adj" fmla="val 2997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9601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1689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232266"/>
                </a:solidFill>
                <a:latin typeface="&quot;Alfa Slab One&quot;"/>
              </a:rPr>
              <a:t>Key Insights &amp; Future Directions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8354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SeasonalNaive Works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8354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Quality Over Quantity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8354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232266"/>
                </a:solidFill>
                <a:latin typeface="&quot;Alfa Slab One&quot;"/>
              </a:rPr>
              <a:t>Future Recommendations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9276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Simple statistical models establish effective baselines when clear seasonal patterns exist in the data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49276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Synthetic data must be highly realistic - poorly generated augmentation degrades performance rather than enhancing it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4927600"/>
            <a:ext cx="41529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Explore LSTM networks, Transformer architectures, GAN-based generators, or hybrid statistical-deep learning approaches for improved forecasting accuracy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86100"/>
            <a:ext cx="2413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3086100"/>
            <a:ext cx="2413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31115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556</Words>
  <Application>Microsoft Office PowerPoint</Application>
  <PresentationFormat>Custom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"Alfa Slab One"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ruben.valenzuela-W213684051</cp:lastModifiedBy>
  <cp:revision>2</cp:revision>
  <dcterms:created xsi:type="dcterms:W3CDTF">2006-08-16T00:00:00Z</dcterms:created>
  <dcterms:modified xsi:type="dcterms:W3CDTF">2026-03-22T11:42:44Z</dcterms:modified>
</cp:coreProperties>
</file>