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4" d="100"/>
          <a:sy n="34" d="100"/>
        </p:scale>
        <p:origin x="51" y="103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882059" y="1358649"/>
            <a:ext cx="7245961" cy="4536435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60000"/>
              </a:lnSpc>
              <a:defRPr/>
            </a:pPr>
            <a:r>
              <a:rPr lang="en-US" sz="4961" b="1">
                <a:solidFill>
                  <a:srgbClr val="232266"/>
                </a:solidFill>
                <a:latin typeface="&quot;Alfa Slab One&quot;"/>
              </a:rPr>
              <a:t>Autonomous Predictive Maintenance Agent for Smart IIoT Systems Using Generative AI</a:t>
            </a:r>
            <a:endParaRPr lang="en-US" sz="1100"/>
          </a:p>
        </p:txBody>
      </p:sp>
      <p:sp>
        <p:nvSpPr>
          <p:cNvPr id="8" name="TextBox 8"/>
          <p:cNvSpPr txBox="1"/>
          <p:nvPr/>
        </p:nvSpPr>
        <p:spPr>
          <a:xfrm>
            <a:off x="882059" y="6178599"/>
            <a:ext cx="7144416" cy="377967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84" b="1">
                <a:solidFill>
                  <a:srgbClr val="000000"/>
                </a:solidFill>
                <a:latin typeface="Poppins"/>
              </a:rPr>
              <a:t>Advanced Industry 4.0 Solution for Smart Manufacturing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882059" y="6840072"/>
            <a:ext cx="7245961" cy="945126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2480" b="1">
                <a:solidFill>
                  <a:srgbClr val="000000"/>
                </a:solidFill>
                <a:latin typeface="Poppins"/>
              </a:rPr>
              <a:t>by Ezra Bakatubia, Andrew Kuruvilla, Marques Roberson, Ruben Valenzuela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 t="675" b="675"/>
          <a:stretch>
            <a:fillRect/>
          </a:stretch>
        </p:blipFill>
        <p:spPr>
          <a:xfrm>
            <a:off x="0" y="0"/>
            <a:ext cx="5201799" cy="91440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6083864" y="576423"/>
            <a:ext cx="9289983" cy="1509192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301" b="1" dirty="0">
                <a:solidFill>
                  <a:srgbClr val="232266"/>
                </a:solidFill>
                <a:latin typeface="&quot;Alfa Slab One&quot;"/>
              </a:rPr>
              <a:t>Critical Challenge: Industrial Equipment Failures Create Major Operational Costs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6083864" y="2321439"/>
            <a:ext cx="9289983" cy="6246132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6083864" y="2321439"/>
            <a:ext cx="2928582" cy="4464490"/>
          </a:xfrm>
          <a:prstGeom prst="roundRect">
            <a:avLst>
              <a:gd name="adj" fmla="val 4026"/>
            </a:avLst>
          </a:prstGeom>
          <a:solidFill>
            <a:srgbClr val="CCD9F7">
              <a:alpha val="63922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6335840" y="2531028"/>
            <a:ext cx="2424624" cy="1132067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76" b="1" dirty="0">
                <a:solidFill>
                  <a:srgbClr val="232266"/>
                </a:solidFill>
                <a:latin typeface="&quot;Alfa Slab One&quot;"/>
              </a:rPr>
              <a:t>Maintenance Cost Impact</a:t>
            </a:r>
            <a:endParaRPr lang="en-US" sz="1100" dirty="0"/>
          </a:p>
        </p:txBody>
      </p:sp>
      <p:sp>
        <p:nvSpPr>
          <p:cNvPr id="10" name="TextBox 10"/>
          <p:cNvSpPr txBox="1"/>
          <p:nvPr/>
        </p:nvSpPr>
        <p:spPr>
          <a:xfrm>
            <a:off x="6335840" y="3809829"/>
            <a:ext cx="2424624" cy="2515087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50" b="1" dirty="0">
                <a:solidFill>
                  <a:srgbClr val="000000"/>
                </a:solidFill>
                <a:latin typeface="Poppins"/>
              </a:rPr>
              <a:t>Unexpected machine failures create major financial pressure on operations.</a:t>
            </a: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9264425" y="2321439"/>
            <a:ext cx="2928722" cy="4464490"/>
          </a:xfrm>
          <a:prstGeom prst="roundRect">
            <a:avLst>
              <a:gd name="adj" fmla="val 4026"/>
            </a:avLst>
          </a:prstGeom>
          <a:solidFill>
            <a:srgbClr val="CCD9F7">
              <a:alpha val="63922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9516401" y="2531028"/>
            <a:ext cx="2424764" cy="754711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76" b="1">
                <a:solidFill>
                  <a:srgbClr val="232266"/>
                </a:solidFill>
                <a:latin typeface="&quot;Alfa Slab One&quot;"/>
              </a:rPr>
              <a:t>Unplanned Downtime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9516401" y="3432481"/>
            <a:ext cx="2424764" cy="3143855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50" b="1" dirty="0">
                <a:solidFill>
                  <a:srgbClr val="000000"/>
                </a:solidFill>
                <a:latin typeface="Poppins"/>
              </a:rPr>
              <a:t>Reactive maintenance can lead to serious unplanned downtime.</a:t>
            </a:r>
            <a:endParaRPr lang="en-US" sz="1100" dirty="0"/>
          </a:p>
        </p:txBody>
      </p:sp>
      <p:sp>
        <p:nvSpPr>
          <p:cNvPr id="14" name="AutoShape 14"/>
          <p:cNvSpPr/>
          <p:nvPr/>
        </p:nvSpPr>
        <p:spPr>
          <a:xfrm>
            <a:off x="12445122" y="2321439"/>
            <a:ext cx="2928722" cy="4464490"/>
          </a:xfrm>
          <a:prstGeom prst="roundRect">
            <a:avLst>
              <a:gd name="adj" fmla="val 4026"/>
            </a:avLst>
          </a:prstGeom>
          <a:solidFill>
            <a:srgbClr val="CCD9F7">
              <a:alpha val="63922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12697098" y="2531028"/>
            <a:ext cx="2424764" cy="754711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76" b="1">
                <a:solidFill>
                  <a:srgbClr val="232266"/>
                </a:solidFill>
                <a:latin typeface="&quot;Alfa Slab One&quot;"/>
              </a:rPr>
              <a:t>Safety Risks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12697098" y="3432481"/>
            <a:ext cx="2424764" cy="2515087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50" b="1" dirty="0">
                <a:solidFill>
                  <a:srgbClr val="000000"/>
                </a:solidFill>
                <a:latin typeface="Poppins"/>
              </a:rPr>
              <a:t>Equipment failures can increase employee safety risks in manufacturing.</a:t>
            </a:r>
            <a:endParaRPr lang="en-US" sz="1100" dirty="0"/>
          </a:p>
        </p:txBody>
      </p:sp>
      <p:sp>
        <p:nvSpPr>
          <p:cNvPr id="17" name="AutoShape 17"/>
          <p:cNvSpPr/>
          <p:nvPr/>
        </p:nvSpPr>
        <p:spPr>
          <a:xfrm>
            <a:off x="6083864" y="6995518"/>
            <a:ext cx="9289983" cy="1572044"/>
          </a:xfrm>
          <a:prstGeom prst="roundRect">
            <a:avLst>
              <a:gd name="adj" fmla="val 7501"/>
            </a:avLst>
          </a:prstGeom>
          <a:solidFill>
            <a:srgbClr val="CCD9F7">
              <a:alpha val="63922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6335840" y="7205106"/>
            <a:ext cx="8786025" cy="377356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76" b="1">
                <a:solidFill>
                  <a:srgbClr val="232266"/>
                </a:solidFill>
                <a:latin typeface="&quot;Alfa Slab One&quot;"/>
              </a:rPr>
              <a:t>System Limitations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6335840" y="7729199"/>
            <a:ext cx="8786025" cy="628772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50" b="1">
                <a:solidFill>
                  <a:srgbClr val="000000"/>
                </a:solidFill>
                <a:latin typeface="Poppins"/>
              </a:rPr>
              <a:t>Current systems lack predictive intelligence and autonomous response capabilities to prevent failures proactively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882059" y="625142"/>
            <a:ext cx="14491922" cy="1091141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580" b="1">
                <a:solidFill>
                  <a:srgbClr val="232266"/>
                </a:solidFill>
                <a:latin typeface="&quot;Alfa Slab One&quot;"/>
              </a:rPr>
              <a:t>Solution: AI-Powered Autonomous Agent Transforms Maintenance from Reactive to Predictive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82059" y="1972033"/>
            <a:ext cx="14491922" cy="6546846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882059" y="1972033"/>
            <a:ext cx="4662556" cy="3705346"/>
          </a:xfrm>
          <a:prstGeom prst="roundRect">
            <a:avLst>
              <a:gd name="adj" fmla="val 3451"/>
            </a:avLst>
          </a:prstGeom>
          <a:solidFill>
            <a:srgbClr val="CCD9F7">
              <a:alpha val="63922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1171058" y="2199331"/>
            <a:ext cx="682026" cy="682026"/>
          </a:xfrm>
          <a:prstGeom prst="roundRect">
            <a:avLst>
              <a:gd name="adj" fmla="val 50000"/>
            </a:avLst>
          </a:prstGeom>
          <a:solidFill>
            <a:srgbClr val="293680"/>
          </a:solidFill>
        </p:spPr>
        <p:txBody>
          <a:bodyPr/>
          <a:lstStyle/>
          <a:p>
            <a:endParaRPr lang="en-US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8419" y="2426629"/>
            <a:ext cx="227300" cy="2273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134035" y="3108661"/>
            <a:ext cx="4158614" cy="818481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685" b="1">
                <a:solidFill>
                  <a:srgbClr val="232266"/>
                </a:solidFill>
                <a:latin typeface="&quot;Alfa Slab One&quot;"/>
              </a:rPr>
              <a:t>1. Industrial IoT &amp; Edge Computing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1134035" y="4086269"/>
            <a:ext cx="4158614" cy="10228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790" b="1">
                <a:solidFill>
                  <a:srgbClr val="000000"/>
                </a:solidFill>
                <a:latin typeface="Poppins"/>
              </a:rPr>
              <a:t>Integration of Industrial IoT sensors with edge computing for real-time monitoring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796595" y="1972033"/>
            <a:ext cx="4662696" cy="3705346"/>
          </a:xfrm>
          <a:prstGeom prst="roundRect">
            <a:avLst>
              <a:gd name="adj" fmla="val 3451"/>
            </a:avLst>
          </a:prstGeom>
          <a:solidFill>
            <a:srgbClr val="CCD9F7">
              <a:alpha val="63922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AutoShape 13"/>
          <p:cNvSpPr/>
          <p:nvPr/>
        </p:nvSpPr>
        <p:spPr>
          <a:xfrm>
            <a:off x="6085594" y="2199331"/>
            <a:ext cx="682026" cy="682026"/>
          </a:xfrm>
          <a:prstGeom prst="roundRect">
            <a:avLst>
              <a:gd name="adj" fmla="val 50000"/>
            </a:avLst>
          </a:prstGeom>
          <a:solidFill>
            <a:srgbClr val="293680"/>
          </a:solidFill>
        </p:spPr>
        <p:txBody>
          <a:bodyPr/>
          <a:lstStyle/>
          <a:p>
            <a:endParaRPr lang="en-US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2971" y="2426629"/>
            <a:ext cx="227300" cy="2273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6048571" y="3108661"/>
            <a:ext cx="4158738" cy="818481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685" b="1">
                <a:solidFill>
                  <a:srgbClr val="232266"/>
                </a:solidFill>
                <a:latin typeface="&quot;Alfa Slab One&quot;"/>
              </a:rPr>
              <a:t>2. Anomaly Detection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6048571" y="4086269"/>
            <a:ext cx="4158738" cy="681901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790" b="1">
                <a:solidFill>
                  <a:srgbClr val="000000"/>
                </a:solidFill>
                <a:latin typeface="Poppins"/>
              </a:rPr>
              <a:t>Generative AI models detect anomalies before failures occur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0711284" y="1972033"/>
            <a:ext cx="4662696" cy="3705346"/>
          </a:xfrm>
          <a:prstGeom prst="roundRect">
            <a:avLst>
              <a:gd name="adj" fmla="val 3451"/>
            </a:avLst>
          </a:prstGeom>
          <a:solidFill>
            <a:srgbClr val="CCD9F7">
              <a:alpha val="63922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AutoShape 18"/>
          <p:cNvSpPr/>
          <p:nvPr/>
        </p:nvSpPr>
        <p:spPr>
          <a:xfrm>
            <a:off x="11000283" y="2199331"/>
            <a:ext cx="682026" cy="682026"/>
          </a:xfrm>
          <a:prstGeom prst="roundRect">
            <a:avLst>
              <a:gd name="adj" fmla="val 50000"/>
            </a:avLst>
          </a:prstGeom>
          <a:solidFill>
            <a:srgbClr val="293680"/>
          </a:solidFill>
        </p:spPr>
        <p:txBody>
          <a:bodyPr/>
          <a:lstStyle/>
          <a:p>
            <a:endParaRPr lang="en-US"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27581" y="2426629"/>
            <a:ext cx="227300" cy="2273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0963259" y="3108661"/>
            <a:ext cx="4158738" cy="818481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685" b="1">
                <a:solidFill>
                  <a:srgbClr val="232266"/>
                </a:solidFill>
                <a:latin typeface="&quot;Alfa Slab One&quot;"/>
              </a:rPr>
              <a:t>3. Autonomous Decision-Making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10963259" y="4086269"/>
            <a:ext cx="4158738" cy="1363801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790" b="1">
                <a:solidFill>
                  <a:srgbClr val="000000"/>
                </a:solidFill>
                <a:latin typeface="Poppins"/>
              </a:rPr>
              <a:t>Autonomous decision-making agent executes maintenance actions without human intervention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82059" y="5904675"/>
            <a:ext cx="7119975" cy="2614205"/>
          </a:xfrm>
          <a:prstGeom prst="roundRect">
            <a:avLst>
              <a:gd name="adj" fmla="val 4891"/>
            </a:avLst>
          </a:prstGeom>
          <a:solidFill>
            <a:srgbClr val="CCD9F7">
              <a:alpha val="63922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3" name="AutoShape 23"/>
          <p:cNvSpPr/>
          <p:nvPr/>
        </p:nvSpPr>
        <p:spPr>
          <a:xfrm>
            <a:off x="1171058" y="6131974"/>
            <a:ext cx="682026" cy="682026"/>
          </a:xfrm>
          <a:prstGeom prst="roundRect">
            <a:avLst>
              <a:gd name="adj" fmla="val 50000"/>
            </a:avLst>
          </a:prstGeom>
          <a:solidFill>
            <a:srgbClr val="293680"/>
          </a:solidFill>
        </p:spPr>
        <p:txBody>
          <a:bodyPr/>
          <a:lstStyle/>
          <a:p>
            <a:endParaRPr lang="en-US"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98419" y="6359272"/>
            <a:ext cx="227300" cy="2273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1134035" y="7041297"/>
            <a:ext cx="6616017" cy="40924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685" b="1">
                <a:solidFill>
                  <a:srgbClr val="232266"/>
                </a:solidFill>
                <a:latin typeface="&quot;Alfa Slab One&quot;"/>
              </a:rPr>
              <a:t>4. Predictive Accuracy</a:t>
            </a:r>
            <a:endParaRPr lang="en-US" sz="1100"/>
          </a:p>
        </p:txBody>
      </p:sp>
      <p:sp>
        <p:nvSpPr>
          <p:cNvPr id="26" name="TextBox 26"/>
          <p:cNvSpPr txBox="1"/>
          <p:nvPr/>
        </p:nvSpPr>
        <p:spPr>
          <a:xfrm>
            <a:off x="1134035" y="7609672"/>
            <a:ext cx="6616017" cy="681901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790" b="1" dirty="0">
                <a:solidFill>
                  <a:srgbClr val="000000"/>
                </a:solidFill>
                <a:latin typeface="Poppins"/>
              </a:rPr>
              <a:t>Improves early failure detection through predictive analytics.</a:t>
            </a:r>
            <a:endParaRPr lang="en-US" sz="1100" dirty="0"/>
          </a:p>
        </p:txBody>
      </p:sp>
      <p:sp>
        <p:nvSpPr>
          <p:cNvPr id="27" name="AutoShape 27"/>
          <p:cNvSpPr/>
          <p:nvPr/>
        </p:nvSpPr>
        <p:spPr>
          <a:xfrm>
            <a:off x="8254015" y="5904675"/>
            <a:ext cx="7119975" cy="2614205"/>
          </a:xfrm>
          <a:prstGeom prst="roundRect">
            <a:avLst>
              <a:gd name="adj" fmla="val 4891"/>
            </a:avLst>
          </a:prstGeom>
          <a:solidFill>
            <a:srgbClr val="CCD9F7">
              <a:alpha val="63922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8" name="AutoShape 28"/>
          <p:cNvSpPr/>
          <p:nvPr/>
        </p:nvSpPr>
        <p:spPr>
          <a:xfrm>
            <a:off x="8543015" y="6131974"/>
            <a:ext cx="682026" cy="682026"/>
          </a:xfrm>
          <a:prstGeom prst="roundRect">
            <a:avLst>
              <a:gd name="adj" fmla="val 50000"/>
            </a:avLst>
          </a:prstGeom>
          <a:solidFill>
            <a:srgbClr val="293680"/>
          </a:solidFill>
        </p:spPr>
        <p:txBody>
          <a:bodyPr/>
          <a:lstStyle/>
          <a:p>
            <a:endParaRPr lang="en-US"/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70297" y="6359272"/>
            <a:ext cx="227300" cy="227300"/>
          </a:xfrm>
          <a:prstGeom prst="rect">
            <a:avLst/>
          </a:prstGeom>
        </p:spPr>
      </p:pic>
      <p:sp>
        <p:nvSpPr>
          <p:cNvPr id="30" name="TextBox 30"/>
          <p:cNvSpPr txBox="1"/>
          <p:nvPr/>
        </p:nvSpPr>
        <p:spPr>
          <a:xfrm>
            <a:off x="8505991" y="7041297"/>
            <a:ext cx="6616017" cy="40924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685" b="1">
                <a:solidFill>
                  <a:srgbClr val="232266"/>
                </a:solidFill>
                <a:latin typeface="&quot;Alfa Slab One&quot;"/>
              </a:rPr>
              <a:t>5. Self-Learning System</a:t>
            </a:r>
            <a:endParaRPr lang="en-US" sz="1100"/>
          </a:p>
        </p:txBody>
      </p:sp>
      <p:sp>
        <p:nvSpPr>
          <p:cNvPr id="31" name="TextBox 31"/>
          <p:cNvSpPr txBox="1"/>
          <p:nvPr/>
        </p:nvSpPr>
        <p:spPr>
          <a:xfrm>
            <a:off x="8505991" y="7609672"/>
            <a:ext cx="6616017" cy="681901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790" b="1">
                <a:solidFill>
                  <a:srgbClr val="000000"/>
                </a:solidFill>
                <a:latin typeface="Poppins"/>
              </a:rPr>
              <a:t>Self-learning system continuously improves through reinforcement learning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 l="12060" r="12060"/>
          <a:stretch>
            <a:fillRect/>
          </a:stretch>
        </p:blipFill>
        <p:spPr>
          <a:xfrm>
            <a:off x="11054098" y="0"/>
            <a:ext cx="5201799" cy="91440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882059" y="601472"/>
            <a:ext cx="9289983" cy="1574757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444" b="1">
                <a:solidFill>
                  <a:srgbClr val="232266"/>
                </a:solidFill>
                <a:latin typeface="&quot;Alfa Slab One&quot;"/>
              </a:rPr>
              <a:t>System Architecture: Five-Layer Intelligent Maintenance Ecosystem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82059" y="2422298"/>
            <a:ext cx="9289983" cy="6120237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882059" y="2422298"/>
            <a:ext cx="2928582" cy="3508538"/>
          </a:xfrm>
          <a:prstGeom prst="roundRect">
            <a:avLst>
              <a:gd name="adj" fmla="val 4201"/>
            </a:avLst>
          </a:prstGeom>
          <a:solidFill>
            <a:srgbClr val="000000">
              <a:alpha val="0"/>
            </a:srgbClr>
          </a:solidFill>
          <a:ln w="14514">
            <a:solidFill>
              <a:srgbClr val="5C79B7">
                <a:alpha val="73725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874691" y="2415902"/>
            <a:ext cx="100708" cy="3521325"/>
          </a:xfrm>
          <a:prstGeom prst="roundRect">
            <a:avLst>
              <a:gd name="adj" fmla="val 50000"/>
            </a:avLst>
          </a:prstGeom>
          <a:solidFill>
            <a:srgbClr val="293680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151811" y="2656420"/>
            <a:ext cx="2389059" cy="1181248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583" b="1">
                <a:solidFill>
                  <a:srgbClr val="232266"/>
                </a:solidFill>
                <a:latin typeface="&quot;Alfa Slab One&quot;"/>
              </a:rPr>
              <a:t>Layer 1 - Sensor Network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1151811" y="3990784"/>
            <a:ext cx="2389059" cy="1640218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722" b="1">
                <a:solidFill>
                  <a:srgbClr val="000000"/>
                </a:solidFill>
                <a:latin typeface="Poppins"/>
              </a:rPr>
              <a:t>Temperature, vibration, pressure, acoustic sensors on critical equipment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062620" y="2422298"/>
            <a:ext cx="2928722" cy="3508538"/>
          </a:xfrm>
          <a:prstGeom prst="roundRect">
            <a:avLst>
              <a:gd name="adj" fmla="val 4201"/>
            </a:avLst>
          </a:prstGeom>
          <a:solidFill>
            <a:srgbClr val="000000">
              <a:alpha val="0"/>
            </a:srgbClr>
          </a:solidFill>
          <a:ln w="14514">
            <a:solidFill>
              <a:srgbClr val="5C79B7">
                <a:alpha val="73725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AutoShape 13"/>
          <p:cNvSpPr/>
          <p:nvPr/>
        </p:nvSpPr>
        <p:spPr>
          <a:xfrm>
            <a:off x="4055251" y="2415902"/>
            <a:ext cx="100708" cy="3521325"/>
          </a:xfrm>
          <a:prstGeom prst="roundRect">
            <a:avLst>
              <a:gd name="adj" fmla="val 50000"/>
            </a:avLst>
          </a:prstGeom>
          <a:solidFill>
            <a:srgbClr val="293680"/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4332371" y="2656420"/>
            <a:ext cx="2389199" cy="1575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583" b="1">
                <a:solidFill>
                  <a:srgbClr val="232266"/>
                </a:solidFill>
                <a:latin typeface="&quot;Alfa Slab One&quot;"/>
              </a:rPr>
              <a:t>Layer 2 - Edge Computing Devices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4332371" y="4384533"/>
            <a:ext cx="2389199" cy="1312177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722" b="1">
                <a:solidFill>
                  <a:srgbClr val="000000"/>
                </a:solidFill>
                <a:latin typeface="Poppins"/>
              </a:rPr>
              <a:t>Local data processing with minimal latency (&lt;50ms)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243317" y="2422298"/>
            <a:ext cx="2928722" cy="3508538"/>
          </a:xfrm>
          <a:prstGeom prst="roundRect">
            <a:avLst>
              <a:gd name="adj" fmla="val 4201"/>
            </a:avLst>
          </a:prstGeom>
          <a:solidFill>
            <a:srgbClr val="000000">
              <a:alpha val="0"/>
            </a:srgbClr>
          </a:solidFill>
          <a:ln w="14514">
            <a:solidFill>
              <a:srgbClr val="5C79B7">
                <a:alpha val="73725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AutoShape 17"/>
          <p:cNvSpPr/>
          <p:nvPr/>
        </p:nvSpPr>
        <p:spPr>
          <a:xfrm>
            <a:off x="7235964" y="2415902"/>
            <a:ext cx="100708" cy="3521325"/>
          </a:xfrm>
          <a:prstGeom prst="roundRect">
            <a:avLst>
              <a:gd name="adj" fmla="val 50000"/>
            </a:avLst>
          </a:prstGeom>
          <a:solidFill>
            <a:srgbClr val="293680"/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7513084" y="2656420"/>
            <a:ext cx="2389199" cy="1181248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583" b="1">
                <a:solidFill>
                  <a:srgbClr val="232266"/>
                </a:solidFill>
                <a:latin typeface="&quot;Alfa Slab One&quot;"/>
              </a:rPr>
              <a:t>Layer 3 - AI Model Engine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7513084" y="3990784"/>
            <a:ext cx="2389199" cy="1640218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722" b="1">
                <a:solidFill>
                  <a:srgbClr val="000000"/>
                </a:solidFill>
                <a:latin typeface="Poppins"/>
              </a:rPr>
              <a:t>Generative AI for anomaly detection and failure pattern recognition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82059" y="6149534"/>
            <a:ext cx="4518928" cy="2392996"/>
          </a:xfrm>
          <a:prstGeom prst="roundRect">
            <a:avLst>
              <a:gd name="adj" fmla="val 5141"/>
            </a:avLst>
          </a:prstGeom>
          <a:solidFill>
            <a:srgbClr val="000000">
              <a:alpha val="0"/>
            </a:srgbClr>
          </a:solidFill>
          <a:ln w="14514">
            <a:solidFill>
              <a:srgbClr val="5C79B7">
                <a:alpha val="73725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AutoShape 21"/>
          <p:cNvSpPr/>
          <p:nvPr/>
        </p:nvSpPr>
        <p:spPr>
          <a:xfrm>
            <a:off x="874691" y="6143146"/>
            <a:ext cx="100708" cy="2405783"/>
          </a:xfrm>
          <a:prstGeom prst="roundRect">
            <a:avLst>
              <a:gd name="adj" fmla="val 50000"/>
            </a:avLst>
          </a:prstGeom>
          <a:solidFill>
            <a:srgbClr val="293680"/>
          </a:solidFill>
        </p:spPr>
        <p:txBody>
          <a:bodyPr/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1151811" y="6383663"/>
            <a:ext cx="3979421" cy="787499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583" b="1">
                <a:solidFill>
                  <a:srgbClr val="232266"/>
                </a:solidFill>
                <a:latin typeface="&quot;Alfa Slab One&quot;"/>
              </a:rPr>
              <a:t>Layer 4 - Autonomous Agent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1151811" y="7324273"/>
            <a:ext cx="3979421" cy="984132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722" b="1">
                <a:solidFill>
                  <a:srgbClr val="000000"/>
                </a:solidFill>
                <a:latin typeface="Poppins"/>
              </a:rPr>
              <a:t>Decision logic, action prioritization, workflow automation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5652976" y="6149534"/>
            <a:ext cx="4519068" cy="2392996"/>
          </a:xfrm>
          <a:prstGeom prst="roundRect">
            <a:avLst>
              <a:gd name="adj" fmla="val 5141"/>
            </a:avLst>
          </a:prstGeom>
          <a:solidFill>
            <a:srgbClr val="000000">
              <a:alpha val="0"/>
            </a:srgbClr>
          </a:solidFill>
          <a:ln w="14514">
            <a:solidFill>
              <a:srgbClr val="5C79B7">
                <a:alpha val="73725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AutoShape 25"/>
          <p:cNvSpPr/>
          <p:nvPr/>
        </p:nvSpPr>
        <p:spPr>
          <a:xfrm>
            <a:off x="5645608" y="6143146"/>
            <a:ext cx="100708" cy="2405783"/>
          </a:xfrm>
          <a:prstGeom prst="roundRect">
            <a:avLst>
              <a:gd name="adj" fmla="val 50000"/>
            </a:avLst>
          </a:prstGeom>
          <a:solidFill>
            <a:srgbClr val="293680"/>
          </a:solidFill>
        </p:spPr>
        <p:txBody>
          <a:bodyPr/>
          <a:lstStyle/>
          <a:p>
            <a:endParaRPr lang="en-US"/>
          </a:p>
        </p:txBody>
      </p:sp>
      <p:sp>
        <p:nvSpPr>
          <p:cNvPr id="26" name="TextBox 26"/>
          <p:cNvSpPr txBox="1"/>
          <p:nvPr/>
        </p:nvSpPr>
        <p:spPr>
          <a:xfrm>
            <a:off x="5922728" y="6383663"/>
            <a:ext cx="3979561" cy="787499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583" b="1">
                <a:solidFill>
                  <a:srgbClr val="232266"/>
                </a:solidFill>
                <a:latin typeface="&quot;Alfa Slab One&quot;"/>
              </a:rPr>
              <a:t>Layer 5 - Action Execution</a:t>
            </a:r>
            <a:endParaRPr lang="en-US" sz="1100"/>
          </a:p>
        </p:txBody>
      </p:sp>
      <p:sp>
        <p:nvSpPr>
          <p:cNvPr id="27" name="TextBox 27"/>
          <p:cNvSpPr txBox="1"/>
          <p:nvPr/>
        </p:nvSpPr>
        <p:spPr>
          <a:xfrm>
            <a:off x="5922728" y="7324273"/>
            <a:ext cx="3979561" cy="984132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722" b="1">
                <a:solidFill>
                  <a:srgbClr val="000000"/>
                </a:solidFill>
                <a:latin typeface="Poppins"/>
              </a:rPr>
              <a:t>Automated alerts, work order generation, equipment adjustments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882059" y="584726"/>
            <a:ext cx="14491922" cy="1020597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348" b="1">
                <a:solidFill>
                  <a:srgbClr val="232266"/>
                </a:solidFill>
                <a:latin typeface="&quot;Alfa Slab One&quot;"/>
              </a:rPr>
              <a:t>AI Model Innovation: GANs Generate Synthetic Training Data to Overcome Data Scarcity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82059" y="1844532"/>
            <a:ext cx="14491922" cy="4483802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882059" y="1844532"/>
            <a:ext cx="3386707" cy="3028621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882059" y="1844532"/>
            <a:ext cx="567019" cy="478419"/>
          </a:xfrm>
          <a:prstGeom prst="roundRect">
            <a:avLst>
              <a:gd name="adj" fmla="val 25002"/>
            </a:avLst>
          </a:prstGeom>
          <a:solidFill>
            <a:srgbClr val="CCD9F7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083336" y="1924228"/>
            <a:ext cx="315042" cy="318907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093" b="1">
                <a:solidFill>
                  <a:srgbClr val="232266"/>
                </a:solidFill>
                <a:highlight>
                  <a:srgbClr val="000000">
                    <a:alpha val="0"/>
                  </a:srgbClr>
                </a:highlight>
                <a:latin typeface="&quot;Alfa Slab One&quot;"/>
              </a:rPr>
              <a:t>1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1701052" y="1917549"/>
            <a:ext cx="2567707" cy="1531132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511" b="1">
                <a:solidFill>
                  <a:srgbClr val="232266"/>
                </a:solidFill>
                <a:latin typeface="&quot;Alfa Slab One&quot;"/>
              </a:rPr>
              <a:t>1. Generative Adversarial Networks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1701052" y="3597523"/>
            <a:ext cx="2567707" cy="127563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74" b="1" dirty="0">
                <a:solidFill>
                  <a:srgbClr val="000000"/>
                </a:solidFill>
                <a:latin typeface="Poppins"/>
              </a:rPr>
              <a:t>GANs create realistic failure scenarios for model training</a:t>
            </a: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4583800" y="1844532"/>
            <a:ext cx="3386707" cy="3028621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AutoShape 13"/>
          <p:cNvSpPr/>
          <p:nvPr/>
        </p:nvSpPr>
        <p:spPr>
          <a:xfrm>
            <a:off x="4583800" y="1844532"/>
            <a:ext cx="567019" cy="478419"/>
          </a:xfrm>
          <a:prstGeom prst="roundRect">
            <a:avLst>
              <a:gd name="adj" fmla="val 25002"/>
            </a:avLst>
          </a:prstGeom>
          <a:solidFill>
            <a:srgbClr val="CCD9F7"/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4765068" y="1924228"/>
            <a:ext cx="315042" cy="318907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093" b="1">
                <a:solidFill>
                  <a:srgbClr val="232266"/>
                </a:solidFill>
                <a:highlight>
                  <a:srgbClr val="000000">
                    <a:alpha val="0"/>
                  </a:srgbClr>
                </a:highlight>
                <a:latin typeface="&quot;Alfa Slab One&quot;"/>
              </a:rPr>
              <a:t>2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5402793" y="1917549"/>
            <a:ext cx="2567707" cy="1148347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511" b="1">
                <a:solidFill>
                  <a:srgbClr val="232266"/>
                </a:solidFill>
                <a:latin typeface="&quot;Alfa Slab One&quot;"/>
              </a:rPr>
              <a:t>2. Synthetic Data Generation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5402793" y="3214742"/>
            <a:ext cx="2567707" cy="956722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74" b="1">
                <a:solidFill>
                  <a:srgbClr val="000000"/>
                </a:solidFill>
                <a:latin typeface="Poppins"/>
              </a:rPr>
              <a:t>Solves the problem of rare failure event examples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285541" y="1844532"/>
            <a:ext cx="3386707" cy="3028621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AutoShape 18"/>
          <p:cNvSpPr/>
          <p:nvPr/>
        </p:nvSpPr>
        <p:spPr>
          <a:xfrm>
            <a:off x="8285541" y="1844532"/>
            <a:ext cx="567019" cy="478419"/>
          </a:xfrm>
          <a:prstGeom prst="roundRect">
            <a:avLst>
              <a:gd name="adj" fmla="val 25002"/>
            </a:avLst>
          </a:prstGeom>
          <a:solidFill>
            <a:srgbClr val="CCD9F7"/>
          </a:solidFill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8470850" y="1924228"/>
            <a:ext cx="315042" cy="318907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093" b="1">
                <a:solidFill>
                  <a:srgbClr val="232266"/>
                </a:solidFill>
                <a:highlight>
                  <a:srgbClr val="000000">
                    <a:alpha val="0"/>
                  </a:srgbClr>
                </a:highlight>
                <a:latin typeface="&quot;Alfa Slab One&quot;"/>
              </a:rPr>
              <a:t>3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9104534" y="1917549"/>
            <a:ext cx="2567707" cy="1148347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511" b="1">
                <a:solidFill>
                  <a:srgbClr val="232266"/>
                </a:solidFill>
                <a:latin typeface="&quot;Alfa Slab One&quot;"/>
              </a:rPr>
              <a:t>3. Reinforcement Learning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9104534" y="3214742"/>
            <a:ext cx="2567707" cy="1594534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74" b="1">
                <a:solidFill>
                  <a:srgbClr val="000000"/>
                </a:solidFill>
                <a:latin typeface="Poppins"/>
              </a:rPr>
              <a:t>Enables agent to optimize maintenance timing and resource allocation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1987282" y="1844532"/>
            <a:ext cx="3386707" cy="3028621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3" name="AutoShape 23"/>
          <p:cNvSpPr/>
          <p:nvPr/>
        </p:nvSpPr>
        <p:spPr>
          <a:xfrm>
            <a:off x="11987282" y="1844532"/>
            <a:ext cx="567019" cy="478419"/>
          </a:xfrm>
          <a:prstGeom prst="roundRect">
            <a:avLst>
              <a:gd name="adj" fmla="val 25002"/>
            </a:avLst>
          </a:prstGeom>
          <a:solidFill>
            <a:srgbClr val="CCD9F7"/>
          </a:solidFill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12161469" y="1924228"/>
            <a:ext cx="315042" cy="318907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093" b="1">
                <a:solidFill>
                  <a:srgbClr val="232266"/>
                </a:solidFill>
                <a:highlight>
                  <a:srgbClr val="000000">
                    <a:alpha val="0"/>
                  </a:srgbClr>
                </a:highlight>
                <a:latin typeface="&quot;Alfa Slab One&quot;"/>
              </a:rPr>
              <a:t>4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12806275" y="1917549"/>
            <a:ext cx="2567707" cy="1531132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511" b="1">
                <a:solidFill>
                  <a:srgbClr val="232266"/>
                </a:solidFill>
                <a:latin typeface="&quot;Alfa Slab One&quot;"/>
              </a:rPr>
              <a:t>4. Deep Learning Neural Networks</a:t>
            </a:r>
            <a:endParaRPr lang="en-US" sz="1100"/>
          </a:p>
        </p:txBody>
      </p:sp>
      <p:sp>
        <p:nvSpPr>
          <p:cNvPr id="26" name="TextBox 26"/>
          <p:cNvSpPr txBox="1"/>
          <p:nvPr/>
        </p:nvSpPr>
        <p:spPr>
          <a:xfrm>
            <a:off x="12806275" y="3597523"/>
            <a:ext cx="2567707" cy="127563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74" b="1">
                <a:solidFill>
                  <a:srgbClr val="000000"/>
                </a:solidFill>
                <a:latin typeface="Poppins"/>
              </a:rPr>
              <a:t>Processes multi-modal sensor data (time-series, audio, thermal)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82059" y="5404784"/>
            <a:ext cx="14491922" cy="923553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8" name="AutoShape 28"/>
          <p:cNvSpPr/>
          <p:nvPr/>
        </p:nvSpPr>
        <p:spPr>
          <a:xfrm>
            <a:off x="882059" y="5404784"/>
            <a:ext cx="567019" cy="478419"/>
          </a:xfrm>
          <a:prstGeom prst="roundRect">
            <a:avLst>
              <a:gd name="adj" fmla="val 25002"/>
            </a:avLst>
          </a:prstGeom>
          <a:solidFill>
            <a:srgbClr val="CCD9F7"/>
          </a:solidFill>
        </p:spPr>
        <p:txBody>
          <a:bodyPr/>
          <a:lstStyle/>
          <a:p>
            <a:endParaRPr lang="en-US"/>
          </a:p>
        </p:txBody>
      </p:sp>
      <p:sp>
        <p:nvSpPr>
          <p:cNvPr id="29" name="TextBox 29"/>
          <p:cNvSpPr txBox="1"/>
          <p:nvPr/>
        </p:nvSpPr>
        <p:spPr>
          <a:xfrm>
            <a:off x="1062917" y="5484480"/>
            <a:ext cx="315042" cy="318907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093" b="1">
                <a:solidFill>
                  <a:srgbClr val="232266"/>
                </a:solidFill>
                <a:highlight>
                  <a:srgbClr val="000000">
                    <a:alpha val="0"/>
                  </a:srgbClr>
                </a:highlight>
                <a:latin typeface="&quot;Alfa Slab One&quot;"/>
              </a:rPr>
              <a:t>5</a:t>
            </a:r>
            <a:endParaRPr lang="en-US" sz="1100"/>
          </a:p>
        </p:txBody>
      </p:sp>
      <p:sp>
        <p:nvSpPr>
          <p:cNvPr id="30" name="TextBox 30"/>
          <p:cNvSpPr txBox="1"/>
          <p:nvPr/>
        </p:nvSpPr>
        <p:spPr>
          <a:xfrm>
            <a:off x="1701052" y="5477801"/>
            <a:ext cx="13672922" cy="382782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511" b="1">
                <a:solidFill>
                  <a:srgbClr val="232266"/>
                </a:solidFill>
                <a:latin typeface="&quot;Alfa Slab One&quot;"/>
              </a:rPr>
              <a:t>5. Transfer Learning</a:t>
            </a:r>
            <a:endParaRPr lang="en-US" sz="1100"/>
          </a:p>
        </p:txBody>
      </p:sp>
      <p:sp>
        <p:nvSpPr>
          <p:cNvPr id="31" name="TextBox 31"/>
          <p:cNvSpPr txBox="1"/>
          <p:nvPr/>
        </p:nvSpPr>
        <p:spPr>
          <a:xfrm>
            <a:off x="1701052" y="6009430"/>
            <a:ext cx="13672922" cy="318907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74" b="1">
                <a:solidFill>
                  <a:srgbClr val="000000"/>
                </a:solidFill>
                <a:latin typeface="Poppins"/>
              </a:rPr>
              <a:t>Adapts models across different equipment types with 40% less training data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882059" y="6477183"/>
            <a:ext cx="14491922" cy="2082097"/>
          </a:xfrm>
          <a:prstGeom prst="roundRect">
            <a:avLst>
              <a:gd name="adj" fmla="val 3574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3" name="AutoShape 33"/>
          <p:cNvSpPr/>
          <p:nvPr/>
        </p:nvSpPr>
        <p:spPr>
          <a:xfrm>
            <a:off x="882059" y="6477183"/>
            <a:ext cx="14491922" cy="2082097"/>
          </a:xfrm>
          <a:prstGeom prst="roundRect">
            <a:avLst>
              <a:gd name="adj" fmla="val 3574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4" name="TextBox 34"/>
          <p:cNvSpPr txBox="1"/>
          <p:nvPr/>
        </p:nvSpPr>
        <p:spPr>
          <a:xfrm>
            <a:off x="1083336" y="6599627"/>
            <a:ext cx="15216518" cy="1147645"/>
          </a:xfrm>
          <a:prstGeom prst="roundRect">
            <a:avLst>
              <a:gd name="adj" fmla="val 6862"/>
            </a:avLst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00000"/>
              </a:lnSpc>
              <a:defRPr/>
            </a:pPr>
            <a:r>
              <a:rPr lang="en-US" sz="4000" b="1" dirty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latin typeface="&quot;Alfa Slab One&quot;"/>
              </a:rPr>
              <a:t>Improved Anomaly Detection Capability</a:t>
            </a:r>
            <a:endParaRPr lang="en-US" sz="4000" dirty="0"/>
          </a:p>
        </p:txBody>
      </p:sp>
      <p:sp>
        <p:nvSpPr>
          <p:cNvPr id="35" name="TextBox 35"/>
          <p:cNvSpPr txBox="1"/>
          <p:nvPr/>
        </p:nvSpPr>
        <p:spPr>
          <a:xfrm>
            <a:off x="882059" y="7708749"/>
            <a:ext cx="14491922" cy="382782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511" b="1" dirty="0">
                <a:solidFill>
                  <a:srgbClr val="232266"/>
                </a:solidFill>
                <a:latin typeface="&quot;Alfa Slab One&quot;"/>
              </a:rPr>
              <a:t>Model conceptually improves anomaly detection by learning from sensor patterns and synthetic failure data.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977442" y="492818"/>
            <a:ext cx="14491922" cy="860189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822" b="1" dirty="0">
                <a:solidFill>
                  <a:srgbClr val="232266"/>
                </a:solidFill>
                <a:latin typeface="&quot;Alfa Slab One&quot;"/>
              </a:rPr>
              <a:t>Data Flow: Real-Time Intelligence from Sensor to Action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882059" y="1554619"/>
            <a:ext cx="14491922" cy="7096563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882059" y="2361073"/>
            <a:ext cx="3386707" cy="2383403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882059" y="2361073"/>
            <a:ext cx="3386707" cy="2383403"/>
          </a:xfrm>
          <a:prstGeom prst="roundRect">
            <a:avLst>
              <a:gd name="adj" fmla="val 2631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882059" y="2361073"/>
            <a:ext cx="3386707" cy="179189"/>
          </a:xfrm>
          <a:prstGeom prst="roundRect">
            <a:avLst>
              <a:gd name="adj" fmla="val 50000"/>
            </a:avLst>
          </a:prstGeom>
          <a:solidFill>
            <a:srgbClr val="CCD9F7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134035" y="2719449"/>
            <a:ext cx="2882749" cy="64524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116" b="1">
                <a:solidFill>
                  <a:srgbClr val="232266"/>
                </a:solidFill>
                <a:latin typeface="&quot;Alfa Slab One&quot;"/>
              </a:rPr>
              <a:t>Data Collection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1134035" y="3490141"/>
            <a:ext cx="2882749" cy="1075137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11" b="1">
                <a:solidFill>
                  <a:srgbClr val="000000"/>
                </a:solidFill>
                <a:latin typeface="Poppins"/>
              </a:rPr>
              <a:t>Continuous streaming from 100+ sensors per machine at 1kHz sampling rate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583800" y="2092286"/>
            <a:ext cx="3386707" cy="265218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AutoShape 13"/>
          <p:cNvSpPr/>
          <p:nvPr/>
        </p:nvSpPr>
        <p:spPr>
          <a:xfrm>
            <a:off x="4583800" y="2092286"/>
            <a:ext cx="3386707" cy="2652180"/>
          </a:xfrm>
          <a:prstGeom prst="roundRect">
            <a:avLst>
              <a:gd name="adj" fmla="val 2365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AutoShape 14"/>
          <p:cNvSpPr/>
          <p:nvPr/>
        </p:nvSpPr>
        <p:spPr>
          <a:xfrm>
            <a:off x="4583800" y="2092286"/>
            <a:ext cx="3386707" cy="179189"/>
          </a:xfrm>
          <a:prstGeom prst="roundRect">
            <a:avLst>
              <a:gd name="adj" fmla="val 50000"/>
            </a:avLst>
          </a:prstGeom>
          <a:solidFill>
            <a:srgbClr val="CCD9F7"/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4835776" y="2450667"/>
            <a:ext cx="2882749" cy="64524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116" b="1">
                <a:solidFill>
                  <a:srgbClr val="232266"/>
                </a:solidFill>
                <a:latin typeface="&quot;Alfa Slab One&quot;"/>
              </a:rPr>
              <a:t>Edge Processing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4835776" y="3221359"/>
            <a:ext cx="2882749" cy="1343919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11" b="1">
                <a:solidFill>
                  <a:srgbClr val="000000"/>
                </a:solidFill>
                <a:latin typeface="Poppins"/>
              </a:rPr>
              <a:t>Feature extraction, data normalization, and preliminary filtering at edge devices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285541" y="1823407"/>
            <a:ext cx="3386707" cy="2921068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AutoShape 18"/>
          <p:cNvSpPr/>
          <p:nvPr/>
        </p:nvSpPr>
        <p:spPr>
          <a:xfrm>
            <a:off x="8285541" y="1823407"/>
            <a:ext cx="3386707" cy="2921068"/>
          </a:xfrm>
          <a:prstGeom prst="roundRect">
            <a:avLst>
              <a:gd name="adj" fmla="val 2147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9" name="AutoShape 19"/>
          <p:cNvSpPr/>
          <p:nvPr/>
        </p:nvSpPr>
        <p:spPr>
          <a:xfrm>
            <a:off x="8285541" y="1823407"/>
            <a:ext cx="3386707" cy="179189"/>
          </a:xfrm>
          <a:prstGeom prst="roundRect">
            <a:avLst>
              <a:gd name="adj" fmla="val 50000"/>
            </a:avLst>
          </a:prstGeom>
          <a:solidFill>
            <a:srgbClr val="CCD9F7"/>
          </a:solidFill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8537517" y="2181782"/>
            <a:ext cx="2882749" cy="64524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116" b="1">
                <a:solidFill>
                  <a:srgbClr val="232266"/>
                </a:solidFill>
                <a:latin typeface="&quot;Alfa Slab One&quot;"/>
              </a:rPr>
              <a:t>Anomaly Detection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8537517" y="2952474"/>
            <a:ext cx="2882749" cy="1343919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11" b="1">
                <a:solidFill>
                  <a:srgbClr val="000000"/>
                </a:solidFill>
                <a:latin typeface="Poppins"/>
              </a:rPr>
              <a:t>AI model analyzes patterns against baseline, flags deviations with confidence scores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1987282" y="1554619"/>
            <a:ext cx="3386707" cy="3189845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3" name="AutoShape 23"/>
          <p:cNvSpPr/>
          <p:nvPr/>
        </p:nvSpPr>
        <p:spPr>
          <a:xfrm>
            <a:off x="11987282" y="1554619"/>
            <a:ext cx="3386707" cy="3189845"/>
          </a:xfrm>
          <a:prstGeom prst="roundRect">
            <a:avLst>
              <a:gd name="adj" fmla="val 1966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4" name="AutoShape 24"/>
          <p:cNvSpPr/>
          <p:nvPr/>
        </p:nvSpPr>
        <p:spPr>
          <a:xfrm>
            <a:off x="11987282" y="1554619"/>
            <a:ext cx="3386707" cy="179189"/>
          </a:xfrm>
          <a:prstGeom prst="roundRect">
            <a:avLst>
              <a:gd name="adj" fmla="val 50000"/>
            </a:avLst>
          </a:prstGeom>
          <a:solidFill>
            <a:srgbClr val="CCD9F7"/>
          </a:solidFill>
        </p:spPr>
        <p:txBody>
          <a:bodyPr/>
          <a:lstStyle/>
          <a:p>
            <a:endParaRPr lang="en-US"/>
          </a:p>
        </p:txBody>
      </p:sp>
      <p:sp>
        <p:nvSpPr>
          <p:cNvPr id="25" name="TextBox 25"/>
          <p:cNvSpPr txBox="1"/>
          <p:nvPr/>
        </p:nvSpPr>
        <p:spPr>
          <a:xfrm>
            <a:off x="12239257" y="1913001"/>
            <a:ext cx="2882749" cy="64524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116" b="1">
                <a:solidFill>
                  <a:srgbClr val="232266"/>
                </a:solidFill>
                <a:latin typeface="&quot;Alfa Slab One&quot;"/>
              </a:rPr>
              <a:t>Decision Engine</a:t>
            </a:r>
            <a:endParaRPr lang="en-US" sz="1100"/>
          </a:p>
        </p:txBody>
      </p:sp>
      <p:sp>
        <p:nvSpPr>
          <p:cNvPr id="26" name="TextBox 26"/>
          <p:cNvSpPr txBox="1"/>
          <p:nvPr/>
        </p:nvSpPr>
        <p:spPr>
          <a:xfrm>
            <a:off x="12239257" y="2683693"/>
            <a:ext cx="2882749" cy="1343919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11" b="1">
                <a:solidFill>
                  <a:srgbClr val="000000"/>
                </a:solidFill>
                <a:latin typeface="Poppins"/>
              </a:rPr>
              <a:t>Autonomous agent evaluates severity, predicts time-to-failure, prioritizes actions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82059" y="5998994"/>
            <a:ext cx="3386707" cy="265218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8" name="AutoShape 28"/>
          <p:cNvSpPr/>
          <p:nvPr/>
        </p:nvSpPr>
        <p:spPr>
          <a:xfrm>
            <a:off x="882059" y="5998994"/>
            <a:ext cx="3386707" cy="2652180"/>
          </a:xfrm>
          <a:prstGeom prst="roundRect">
            <a:avLst>
              <a:gd name="adj" fmla="val 2365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9" name="AutoShape 29"/>
          <p:cNvSpPr/>
          <p:nvPr/>
        </p:nvSpPr>
        <p:spPr>
          <a:xfrm>
            <a:off x="882059" y="5998994"/>
            <a:ext cx="3386707" cy="179189"/>
          </a:xfrm>
          <a:prstGeom prst="roundRect">
            <a:avLst>
              <a:gd name="adj" fmla="val 50000"/>
            </a:avLst>
          </a:prstGeom>
          <a:solidFill>
            <a:srgbClr val="CCD9F7"/>
          </a:solidFill>
        </p:spPr>
        <p:txBody>
          <a:bodyPr/>
          <a:lstStyle/>
          <a:p>
            <a:endParaRPr lang="en-US"/>
          </a:p>
        </p:txBody>
      </p:sp>
      <p:sp>
        <p:nvSpPr>
          <p:cNvPr id="30" name="TextBox 30"/>
          <p:cNvSpPr txBox="1"/>
          <p:nvPr/>
        </p:nvSpPr>
        <p:spPr>
          <a:xfrm>
            <a:off x="1134035" y="6357376"/>
            <a:ext cx="2882749" cy="64524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116" b="1">
                <a:solidFill>
                  <a:srgbClr val="232266"/>
                </a:solidFill>
                <a:latin typeface="&quot;Alfa Slab One&quot;"/>
              </a:rPr>
              <a:t>Automated Response</a:t>
            </a:r>
            <a:endParaRPr lang="en-US" sz="1100"/>
          </a:p>
        </p:txBody>
      </p:sp>
      <p:sp>
        <p:nvSpPr>
          <p:cNvPr id="31" name="TextBox 31"/>
          <p:cNvSpPr txBox="1"/>
          <p:nvPr/>
        </p:nvSpPr>
        <p:spPr>
          <a:xfrm>
            <a:off x="1134035" y="7128068"/>
            <a:ext cx="2882749" cy="1343919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11" b="1">
                <a:solidFill>
                  <a:srgbClr val="000000"/>
                </a:solidFill>
                <a:latin typeface="Poppins"/>
              </a:rPr>
              <a:t>System triggers maintenance workflows, adjusts operations, or initiates emergency protocols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 t="675" b="675"/>
          <a:stretch>
            <a:fillRect/>
          </a:stretch>
        </p:blipFill>
        <p:spPr>
          <a:xfrm>
            <a:off x="0" y="0"/>
            <a:ext cx="5201799" cy="91440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6083864" y="546357"/>
            <a:ext cx="9289983" cy="1430458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129" b="1">
                <a:solidFill>
                  <a:srgbClr val="232266"/>
                </a:solidFill>
                <a:latin typeface="&quot;Alfa Slab One&quot;"/>
              </a:rPr>
              <a:t>Security Framework: Enterprise-Grade Protection for Mission-Critical Industrial Systems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083864" y="2200330"/>
            <a:ext cx="9289983" cy="6397301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6083864" y="2200330"/>
            <a:ext cx="2928582" cy="3754980"/>
          </a:xfrm>
          <a:prstGeom prst="roundRect">
            <a:avLst>
              <a:gd name="adj" fmla="val 3816"/>
            </a:avLst>
          </a:prstGeom>
          <a:solidFill>
            <a:srgbClr val="CCD9F7">
              <a:alpha val="63922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6335840" y="2398991"/>
            <a:ext cx="2424624" cy="1430678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346" b="1">
                <a:solidFill>
                  <a:srgbClr val="232266"/>
                </a:solidFill>
                <a:latin typeface="&quot;Alfa Slab One&quot;"/>
              </a:rPr>
              <a:t>Transport Layer Security (TLS 1.3)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6335840" y="3968746"/>
            <a:ext cx="2424624" cy="1191939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564" b="1">
                <a:solidFill>
                  <a:srgbClr val="000000"/>
                </a:solidFill>
                <a:latin typeface="Poppins"/>
              </a:rPr>
              <a:t>Encryption for all data transmission between sensors and cloud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264425" y="2200330"/>
            <a:ext cx="2928722" cy="3754980"/>
          </a:xfrm>
          <a:prstGeom prst="roundRect">
            <a:avLst>
              <a:gd name="adj" fmla="val 3816"/>
            </a:avLst>
          </a:prstGeom>
          <a:solidFill>
            <a:srgbClr val="CCD9F7">
              <a:alpha val="63922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9516401" y="2398991"/>
            <a:ext cx="2424764" cy="1430678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346" b="1">
                <a:solidFill>
                  <a:srgbClr val="232266"/>
                </a:solidFill>
                <a:latin typeface="&quot;Alfa Slab One&quot;"/>
              </a:rPr>
              <a:t>Multi-factor Authentication &amp; RBAC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9516401" y="3968746"/>
            <a:ext cx="2424764" cy="1787909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564" b="1">
                <a:solidFill>
                  <a:srgbClr val="000000"/>
                </a:solidFill>
                <a:latin typeface="Poppins"/>
              </a:rPr>
              <a:t>Multi-factor authentication and role-based access control (RBAC) for system access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2445122" y="2200330"/>
            <a:ext cx="2928722" cy="3754980"/>
          </a:xfrm>
          <a:prstGeom prst="roundRect">
            <a:avLst>
              <a:gd name="adj" fmla="val 3816"/>
            </a:avLst>
          </a:prstGeom>
          <a:solidFill>
            <a:srgbClr val="CCD9F7">
              <a:alpha val="63922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12697098" y="2398991"/>
            <a:ext cx="2424764" cy="1430678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346" b="1">
                <a:solidFill>
                  <a:srgbClr val="232266"/>
                </a:solidFill>
                <a:latin typeface="&quot;Alfa Slab One&quot;"/>
              </a:rPr>
              <a:t>Data Protection: AES-256 Encryption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12697098" y="3968746"/>
            <a:ext cx="2424764" cy="1191939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564" b="1">
                <a:solidFill>
                  <a:srgbClr val="000000"/>
                </a:solidFill>
                <a:latin typeface="Poppins"/>
              </a:rPr>
              <a:t>End-to-end encryption at rest and in transit with AES-256 standard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083864" y="6153966"/>
            <a:ext cx="4518928" cy="2443669"/>
          </a:xfrm>
          <a:prstGeom prst="roundRect">
            <a:avLst>
              <a:gd name="adj" fmla="val 4573"/>
            </a:avLst>
          </a:prstGeom>
          <a:solidFill>
            <a:srgbClr val="CCD9F7">
              <a:alpha val="63922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6335840" y="6352620"/>
            <a:ext cx="4014970" cy="715338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346" b="1">
                <a:solidFill>
                  <a:srgbClr val="232266"/>
                </a:solidFill>
                <a:latin typeface="&quot;Alfa Slab One&quot;"/>
              </a:rPr>
              <a:t>Network Segmentation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6335840" y="7207045"/>
            <a:ext cx="4014970" cy="893954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564" b="1">
                <a:solidFill>
                  <a:srgbClr val="000000"/>
                </a:solidFill>
                <a:latin typeface="Poppins"/>
              </a:rPr>
              <a:t>Isolates IIoT devices from corporate networks to prevent lateral attacks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0854766" y="6153966"/>
            <a:ext cx="4519068" cy="2443669"/>
          </a:xfrm>
          <a:prstGeom prst="roundRect">
            <a:avLst>
              <a:gd name="adj" fmla="val 4573"/>
            </a:avLst>
          </a:prstGeom>
          <a:solidFill>
            <a:srgbClr val="CCD9F7">
              <a:alpha val="63922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11106742" y="6352620"/>
            <a:ext cx="4015110" cy="715338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346" b="1">
                <a:solidFill>
                  <a:srgbClr val="232266"/>
                </a:solidFill>
                <a:latin typeface="&quot;Alfa Slab One&quot;"/>
              </a:rPr>
              <a:t>Compliance &amp; Regulations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11106742" y="7207045"/>
            <a:ext cx="4015110" cy="1191939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564" b="1">
                <a:solidFill>
                  <a:srgbClr val="000000"/>
                </a:solidFill>
                <a:latin typeface="Poppins"/>
              </a:rPr>
              <a:t>Compliance with IEC 62443 industrial cybersecurity standards and GDPR data privacy regulations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882059" y="602663"/>
            <a:ext cx="14491922" cy="1051918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451" b="1">
                <a:solidFill>
                  <a:srgbClr val="232266"/>
                </a:solidFill>
                <a:latin typeface="&quot;Alfa Slab One&quot;"/>
              </a:rPr>
              <a:t>Testing Plan: Rigorous Validation Across Performance, Reliability, and Security Dimensions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82059" y="1901138"/>
            <a:ext cx="14491922" cy="6640206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882059" y="1901138"/>
            <a:ext cx="3433924" cy="3900836"/>
          </a:xfrm>
          <a:prstGeom prst="roundRect">
            <a:avLst>
              <a:gd name="adj" fmla="val 3590"/>
            </a:avLst>
          </a:prstGeom>
          <a:solidFill>
            <a:srgbClr val="CCD9F7">
              <a:alpha val="63922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1183317" y="2120265"/>
            <a:ext cx="657509" cy="657509"/>
          </a:xfrm>
          <a:prstGeom prst="roundRect">
            <a:avLst>
              <a:gd name="adj" fmla="val 50000"/>
            </a:avLst>
          </a:prstGeom>
          <a:solidFill>
            <a:srgbClr val="293680"/>
          </a:solidFill>
        </p:spPr>
        <p:txBody>
          <a:bodyPr/>
          <a:lstStyle/>
          <a:p>
            <a:endParaRPr lang="en-US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2505" y="2339393"/>
            <a:ext cx="219129" cy="219129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134035" y="2996901"/>
            <a:ext cx="2929966" cy="789059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588" b="1">
                <a:solidFill>
                  <a:srgbClr val="232266"/>
                </a:solidFill>
                <a:latin typeface="&quot;Alfa Slab One&quot;"/>
              </a:rPr>
              <a:t>Performance Testing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1134035" y="3939374"/>
            <a:ext cx="2929966" cy="1643468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725" b="1">
                <a:solidFill>
                  <a:srgbClr val="000000"/>
                </a:solidFill>
                <a:latin typeface="Poppins"/>
              </a:rPr>
              <a:t>Validate model accuracy, latency benchmarks, and throughput under varying loads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567969" y="1901138"/>
            <a:ext cx="3434064" cy="3900836"/>
          </a:xfrm>
          <a:prstGeom prst="roundRect">
            <a:avLst>
              <a:gd name="adj" fmla="val 3590"/>
            </a:avLst>
          </a:prstGeom>
          <a:solidFill>
            <a:srgbClr val="CCD9F7">
              <a:alpha val="63922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AutoShape 13"/>
          <p:cNvSpPr/>
          <p:nvPr/>
        </p:nvSpPr>
        <p:spPr>
          <a:xfrm>
            <a:off x="4869226" y="2120265"/>
            <a:ext cx="657509" cy="657509"/>
          </a:xfrm>
          <a:prstGeom prst="roundRect">
            <a:avLst>
              <a:gd name="adj" fmla="val 50000"/>
            </a:avLst>
          </a:prstGeom>
          <a:solidFill>
            <a:srgbClr val="293680"/>
          </a:solidFill>
        </p:spPr>
        <p:txBody>
          <a:bodyPr/>
          <a:lstStyle/>
          <a:p>
            <a:endParaRPr lang="en-US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8415" y="2339393"/>
            <a:ext cx="219129" cy="219129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4819945" y="2996901"/>
            <a:ext cx="2930106" cy="789059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588" b="1">
                <a:solidFill>
                  <a:srgbClr val="232266"/>
                </a:solidFill>
                <a:latin typeface="&quot;Alfa Slab One&quot;"/>
              </a:rPr>
              <a:t>Failure Simulation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4819945" y="3939374"/>
            <a:ext cx="2930106" cy="1314777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725" b="1" dirty="0">
                <a:solidFill>
                  <a:srgbClr val="000000"/>
                </a:solidFill>
                <a:latin typeface="Poppins"/>
              </a:rPr>
              <a:t>Test system response to multiple synthetic failure scenarios including cascading failures</a:t>
            </a:r>
            <a:endParaRPr lang="en-US" sz="1100" dirty="0"/>
          </a:p>
        </p:txBody>
      </p:sp>
      <p:sp>
        <p:nvSpPr>
          <p:cNvPr id="17" name="AutoShape 17"/>
          <p:cNvSpPr/>
          <p:nvPr/>
        </p:nvSpPr>
        <p:spPr>
          <a:xfrm>
            <a:off x="8254015" y="1901138"/>
            <a:ext cx="3433924" cy="3900836"/>
          </a:xfrm>
          <a:prstGeom prst="roundRect">
            <a:avLst>
              <a:gd name="adj" fmla="val 3590"/>
            </a:avLst>
          </a:prstGeom>
          <a:solidFill>
            <a:srgbClr val="CCD9F7">
              <a:alpha val="63922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AutoShape 18"/>
          <p:cNvSpPr/>
          <p:nvPr/>
        </p:nvSpPr>
        <p:spPr>
          <a:xfrm>
            <a:off x="8555273" y="2120265"/>
            <a:ext cx="657509" cy="657509"/>
          </a:xfrm>
          <a:prstGeom prst="roundRect">
            <a:avLst>
              <a:gd name="adj" fmla="val 50000"/>
            </a:avLst>
          </a:prstGeom>
          <a:solidFill>
            <a:srgbClr val="293680"/>
          </a:solidFill>
        </p:spPr>
        <p:txBody>
          <a:bodyPr/>
          <a:lstStyle/>
          <a:p>
            <a:endParaRPr lang="en-US"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4461" y="2339393"/>
            <a:ext cx="219129" cy="219129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8505991" y="2996901"/>
            <a:ext cx="2929966" cy="789059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588" b="1">
                <a:solidFill>
                  <a:srgbClr val="232266"/>
                </a:solidFill>
                <a:latin typeface="&quot;Alfa Slab One&quot;"/>
              </a:rPr>
              <a:t>Security Testing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8505991" y="3939374"/>
            <a:ext cx="2929966" cy="1643468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725" b="1" dirty="0">
                <a:solidFill>
                  <a:srgbClr val="000000"/>
                </a:solidFill>
                <a:latin typeface="Poppins"/>
              </a:rPr>
              <a:t>Penetration testing, vulnerability scanning, and compliance verification against OWASP Top 10</a:t>
            </a:r>
            <a:endParaRPr lang="en-US" sz="1100" dirty="0"/>
          </a:p>
        </p:txBody>
      </p:sp>
      <p:sp>
        <p:nvSpPr>
          <p:cNvPr id="22" name="AutoShape 22"/>
          <p:cNvSpPr/>
          <p:nvPr/>
        </p:nvSpPr>
        <p:spPr>
          <a:xfrm>
            <a:off x="11939910" y="1901138"/>
            <a:ext cx="3434064" cy="3900836"/>
          </a:xfrm>
          <a:prstGeom prst="roundRect">
            <a:avLst>
              <a:gd name="adj" fmla="val 3590"/>
            </a:avLst>
          </a:prstGeom>
          <a:solidFill>
            <a:srgbClr val="CCD9F7">
              <a:alpha val="63922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3" name="AutoShape 23"/>
          <p:cNvSpPr/>
          <p:nvPr/>
        </p:nvSpPr>
        <p:spPr>
          <a:xfrm>
            <a:off x="12241167" y="2120265"/>
            <a:ext cx="657509" cy="657509"/>
          </a:xfrm>
          <a:prstGeom prst="roundRect">
            <a:avLst>
              <a:gd name="adj" fmla="val 50000"/>
            </a:avLst>
          </a:prstGeom>
          <a:solidFill>
            <a:srgbClr val="293680"/>
          </a:solidFill>
        </p:spPr>
        <p:txBody>
          <a:bodyPr/>
          <a:lstStyle/>
          <a:p>
            <a:endParaRPr lang="en-US"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60290" y="2339393"/>
            <a:ext cx="219129" cy="219129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12191886" y="2996901"/>
            <a:ext cx="2930106" cy="394529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588" b="1">
                <a:solidFill>
                  <a:srgbClr val="232266"/>
                </a:solidFill>
                <a:latin typeface="&quot;Alfa Slab One&quot;"/>
              </a:rPr>
              <a:t>Field Pilot</a:t>
            </a:r>
            <a:endParaRPr lang="en-US" sz="1100"/>
          </a:p>
        </p:txBody>
      </p:sp>
      <p:sp>
        <p:nvSpPr>
          <p:cNvPr id="26" name="TextBox 26"/>
          <p:cNvSpPr txBox="1"/>
          <p:nvPr/>
        </p:nvSpPr>
        <p:spPr>
          <a:xfrm>
            <a:off x="12191886" y="3544845"/>
            <a:ext cx="2930106" cy="1643468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725" b="1" dirty="0">
                <a:solidFill>
                  <a:srgbClr val="000000"/>
                </a:solidFill>
                <a:latin typeface="Poppins"/>
              </a:rPr>
              <a:t>controlled pilot deployment in selected machines in a controlled manufacturing environment</a:t>
            </a:r>
            <a:endParaRPr lang="en-US" sz="1100" dirty="0"/>
          </a:p>
        </p:txBody>
      </p:sp>
      <p:sp>
        <p:nvSpPr>
          <p:cNvPr id="27" name="AutoShape 27"/>
          <p:cNvSpPr/>
          <p:nvPr/>
        </p:nvSpPr>
        <p:spPr>
          <a:xfrm>
            <a:off x="882059" y="6021105"/>
            <a:ext cx="7119975" cy="2520233"/>
          </a:xfrm>
          <a:prstGeom prst="roundRect">
            <a:avLst>
              <a:gd name="adj" fmla="val 4891"/>
            </a:avLst>
          </a:prstGeom>
          <a:solidFill>
            <a:srgbClr val="CCD9F7">
              <a:alpha val="63922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8" name="AutoShape 28"/>
          <p:cNvSpPr/>
          <p:nvPr/>
        </p:nvSpPr>
        <p:spPr>
          <a:xfrm>
            <a:off x="1183317" y="6240232"/>
            <a:ext cx="657509" cy="657509"/>
          </a:xfrm>
          <a:prstGeom prst="roundRect">
            <a:avLst>
              <a:gd name="adj" fmla="val 50000"/>
            </a:avLst>
          </a:prstGeom>
          <a:solidFill>
            <a:srgbClr val="293680"/>
          </a:solidFill>
        </p:spPr>
        <p:txBody>
          <a:bodyPr/>
          <a:lstStyle/>
          <a:p>
            <a:endParaRPr lang="en-US"/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02433" y="6459367"/>
            <a:ext cx="219129" cy="219129"/>
          </a:xfrm>
          <a:prstGeom prst="rect">
            <a:avLst/>
          </a:prstGeom>
        </p:spPr>
      </p:pic>
      <p:sp>
        <p:nvSpPr>
          <p:cNvPr id="30" name="TextBox 30"/>
          <p:cNvSpPr txBox="1"/>
          <p:nvPr/>
        </p:nvSpPr>
        <p:spPr>
          <a:xfrm>
            <a:off x="1134035" y="7116875"/>
            <a:ext cx="6616017" cy="394529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588" b="1">
                <a:solidFill>
                  <a:srgbClr val="232266"/>
                </a:solidFill>
                <a:latin typeface="&quot;Alfa Slab One&quot;"/>
              </a:rPr>
              <a:t>Stress Testing</a:t>
            </a:r>
            <a:endParaRPr lang="en-US" sz="1100"/>
          </a:p>
        </p:txBody>
      </p:sp>
      <p:sp>
        <p:nvSpPr>
          <p:cNvPr id="31" name="TextBox 31"/>
          <p:cNvSpPr txBox="1"/>
          <p:nvPr/>
        </p:nvSpPr>
        <p:spPr>
          <a:xfrm>
            <a:off x="1134035" y="7664819"/>
            <a:ext cx="6616017" cy="657388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725" b="1" dirty="0">
                <a:solidFill>
                  <a:srgbClr val="000000"/>
                </a:solidFill>
                <a:latin typeface="Poppins"/>
              </a:rPr>
              <a:t>Evaluate system stability under peak data loads (high simulated data loads)</a:t>
            </a:r>
            <a:endParaRPr lang="en-US" sz="1100" dirty="0"/>
          </a:p>
        </p:txBody>
      </p:sp>
      <p:sp>
        <p:nvSpPr>
          <p:cNvPr id="32" name="AutoShape 32"/>
          <p:cNvSpPr/>
          <p:nvPr/>
        </p:nvSpPr>
        <p:spPr>
          <a:xfrm>
            <a:off x="8254015" y="6021105"/>
            <a:ext cx="7119975" cy="2520233"/>
          </a:xfrm>
          <a:prstGeom prst="roundRect">
            <a:avLst>
              <a:gd name="adj" fmla="val 4891"/>
            </a:avLst>
          </a:prstGeom>
          <a:solidFill>
            <a:srgbClr val="CCD9F7">
              <a:alpha val="63922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3" name="AutoShape 33"/>
          <p:cNvSpPr/>
          <p:nvPr/>
        </p:nvSpPr>
        <p:spPr>
          <a:xfrm>
            <a:off x="8555273" y="6240232"/>
            <a:ext cx="657509" cy="657509"/>
          </a:xfrm>
          <a:prstGeom prst="roundRect">
            <a:avLst>
              <a:gd name="adj" fmla="val 50000"/>
            </a:avLst>
          </a:prstGeom>
          <a:solidFill>
            <a:srgbClr val="293680"/>
          </a:solidFill>
        </p:spPr>
        <p:txBody>
          <a:bodyPr/>
          <a:lstStyle/>
          <a:p>
            <a:endParaRPr lang="en-US"/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74389" y="6459367"/>
            <a:ext cx="219129" cy="219129"/>
          </a:xfrm>
          <a:prstGeom prst="rect">
            <a:avLst/>
          </a:prstGeom>
        </p:spPr>
      </p:pic>
      <p:sp>
        <p:nvSpPr>
          <p:cNvPr id="35" name="TextBox 35"/>
          <p:cNvSpPr txBox="1"/>
          <p:nvPr/>
        </p:nvSpPr>
        <p:spPr>
          <a:xfrm>
            <a:off x="8505991" y="7116875"/>
            <a:ext cx="6616017" cy="394529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588" b="1">
                <a:solidFill>
                  <a:srgbClr val="232266"/>
                </a:solidFill>
                <a:latin typeface="&quot;Alfa Slab One&quot;"/>
              </a:rPr>
              <a:t>A/B Comparison</a:t>
            </a:r>
            <a:endParaRPr lang="en-US" sz="1100"/>
          </a:p>
        </p:txBody>
      </p:sp>
      <p:sp>
        <p:nvSpPr>
          <p:cNvPr id="36" name="TextBox 36"/>
          <p:cNvSpPr txBox="1"/>
          <p:nvPr/>
        </p:nvSpPr>
        <p:spPr>
          <a:xfrm>
            <a:off x="8505991" y="7664819"/>
            <a:ext cx="6616017" cy="657388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725" b="1" dirty="0">
                <a:solidFill>
                  <a:srgbClr val="000000"/>
                </a:solidFill>
                <a:latin typeface="Poppins"/>
              </a:rPr>
              <a:t>Measure improvement vs. traditional time-based maintenance schedules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 t="675" b="675"/>
          <a:stretch>
            <a:fillRect/>
          </a:stretch>
        </p:blipFill>
        <p:spPr>
          <a:xfrm>
            <a:off x="0" y="0"/>
            <a:ext cx="5201799" cy="91440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6083864" y="506624"/>
            <a:ext cx="9289983" cy="1326421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1" b="1">
                <a:solidFill>
                  <a:srgbClr val="232266"/>
                </a:solidFill>
                <a:latin typeface="&quot;Alfa Slab One&quot;"/>
              </a:rPr>
              <a:t>Measurable Benefits: 40% Cost Reduction and Zero Safety Incidents in Pilot Deployment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083864" y="2040304"/>
            <a:ext cx="9289983" cy="6113504"/>
          </a:xfrm>
          <a:prstGeom prst="roundRect">
            <a:avLst>
              <a:gd name="adj" fmla="val 1054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6083864" y="2040304"/>
            <a:ext cx="4487408" cy="2964599"/>
          </a:xfrm>
          <a:prstGeom prst="roundRect">
            <a:avLst>
              <a:gd name="adj" fmla="val 2175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6083864" y="2076660"/>
            <a:ext cx="4711779" cy="994359"/>
          </a:xfrm>
          <a:prstGeom prst="roundRect">
            <a:avLst>
              <a:gd name="adj" fmla="val 6862"/>
            </a:avLst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00000"/>
              </a:lnSpc>
              <a:defRPr/>
            </a:pPr>
            <a:r>
              <a:rPr lang="en-US" sz="5730" b="1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latin typeface="&quot;Alfa Slab One&quot;"/>
              </a:rPr>
              <a:t>60-75%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6083864" y="3107373"/>
            <a:ext cx="4487408" cy="663312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176" b="1">
                <a:solidFill>
                  <a:srgbClr val="232266"/>
                </a:solidFill>
                <a:latin typeface="&quot;Alfa Slab One&quot;"/>
              </a:rPr>
              <a:t>Reduction in Unplanned Downtime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6083864" y="3899651"/>
            <a:ext cx="4487408" cy="11052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50" b="1">
                <a:solidFill>
                  <a:srgbClr val="000000"/>
                </a:solidFill>
                <a:latin typeface="Poppins"/>
              </a:rPr>
              <a:t>Through proactive interventions, measurable improvement in equipment availability and operational continuity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886307" y="2040304"/>
            <a:ext cx="4487533" cy="2964599"/>
          </a:xfrm>
          <a:prstGeom prst="roundRect">
            <a:avLst>
              <a:gd name="adj" fmla="val 2175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10886307" y="2076660"/>
            <a:ext cx="4711909" cy="994359"/>
          </a:xfrm>
          <a:prstGeom prst="roundRect">
            <a:avLst>
              <a:gd name="adj" fmla="val 6862"/>
            </a:avLst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00000"/>
              </a:lnSpc>
              <a:defRPr/>
            </a:pPr>
            <a:r>
              <a:rPr lang="en-US" sz="5730" b="1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latin typeface="&quot;Alfa Slab One&quot;"/>
              </a:rPr>
              <a:t>35-40%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10886307" y="3107373"/>
            <a:ext cx="4487533" cy="663312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176" b="1">
                <a:solidFill>
                  <a:srgbClr val="232266"/>
                </a:solidFill>
                <a:latin typeface="&quot;Alfa Slab One&quot;"/>
              </a:rPr>
              <a:t>Lower Maintenance Costs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10886307" y="3899651"/>
            <a:ext cx="4487533" cy="828937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50" b="1">
                <a:solidFill>
                  <a:srgbClr val="000000"/>
                </a:solidFill>
                <a:latin typeface="Poppins"/>
              </a:rPr>
              <a:t>Via optimized scheduling, achieving significant cost savings across maintenance operations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083864" y="5465524"/>
            <a:ext cx="4487408" cy="2688282"/>
          </a:xfrm>
          <a:prstGeom prst="roundRect">
            <a:avLst>
              <a:gd name="adj" fmla="val 2398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6083864" y="5501877"/>
            <a:ext cx="4711779" cy="994359"/>
          </a:xfrm>
          <a:prstGeom prst="roundRect">
            <a:avLst>
              <a:gd name="adj" fmla="val 6862"/>
            </a:avLst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00000"/>
              </a:lnSpc>
              <a:defRPr/>
            </a:pPr>
            <a:r>
              <a:rPr lang="en-US" sz="5730" b="1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latin typeface="&quot;Alfa Slab One&quot;"/>
              </a:rPr>
              <a:t>95%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6083864" y="6532590"/>
            <a:ext cx="4487408" cy="663312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176" b="1">
                <a:solidFill>
                  <a:srgbClr val="232266"/>
                </a:solidFill>
                <a:latin typeface="&quot;Alfa Slab One&quot;"/>
              </a:rPr>
              <a:t>Elimination of Safety Incidents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6083864" y="7324868"/>
            <a:ext cx="4487408" cy="828937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50" b="1">
                <a:solidFill>
                  <a:srgbClr val="000000"/>
                </a:solidFill>
                <a:latin typeface="Poppins"/>
              </a:rPr>
              <a:t>Complete removal of failure-related safety incidents through preventive measures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0886307" y="5465524"/>
            <a:ext cx="4487533" cy="2688282"/>
          </a:xfrm>
          <a:prstGeom prst="roundRect">
            <a:avLst>
              <a:gd name="adj" fmla="val 2398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10886307" y="5501877"/>
            <a:ext cx="4711909" cy="994359"/>
          </a:xfrm>
          <a:prstGeom prst="roundRect">
            <a:avLst>
              <a:gd name="adj" fmla="val 6862"/>
            </a:avLst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00000"/>
              </a:lnSpc>
              <a:defRPr/>
            </a:pPr>
            <a:r>
              <a:rPr lang="en-US" sz="5730" b="1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latin typeface="&quot;Alfa Slab One&quot;"/>
              </a:rPr>
              <a:t>20-30%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10886307" y="6532590"/>
            <a:ext cx="4487533" cy="663312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176" b="1">
                <a:solidFill>
                  <a:srgbClr val="232266"/>
                </a:solidFill>
                <a:latin typeface="&quot;Alfa Slab One&quot;"/>
              </a:rPr>
              <a:t>Equipment Lifespan Extension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10886307" y="7324868"/>
            <a:ext cx="4487533" cy="828937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50" b="1">
                <a:solidFill>
                  <a:srgbClr val="000000"/>
                </a:solidFill>
                <a:latin typeface="Poppins"/>
              </a:rPr>
              <a:t>Through precise maintenance timing, extending asset longevity and maximizing ROI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6078510" y="8361064"/>
            <a:ext cx="9289983" cy="276312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50" b="1" dirty="0">
                <a:solidFill>
                  <a:srgbClr val="000000"/>
                </a:solidFill>
                <a:latin typeface="Poppins"/>
              </a:rPr>
              <a:t>Potential long-term return on investment through preventive maintenance.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 t="28915" b="28915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ECF0FF">
              <a:alpha val="80784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882059" y="1278643"/>
            <a:ext cx="14491922" cy="1512146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60000"/>
              </a:lnSpc>
              <a:defRPr/>
            </a:pPr>
            <a:r>
              <a:rPr lang="en-US" sz="4961" b="1">
                <a:solidFill>
                  <a:srgbClr val="232266"/>
                </a:solidFill>
                <a:latin typeface="&quot;Alfa Slab One&quot;"/>
              </a:rPr>
              <a:t>Conclusion: Scalable AI Solution Positions Organizations for Industry 4.0 Leadership</a:t>
            </a:r>
            <a:endParaRPr lang="en-US" sz="1100"/>
          </a:p>
        </p:txBody>
      </p:sp>
      <p:sp>
        <p:nvSpPr>
          <p:cNvPr id="8" name="TextBox 8"/>
          <p:cNvSpPr txBox="1"/>
          <p:nvPr/>
        </p:nvSpPr>
        <p:spPr>
          <a:xfrm>
            <a:off x="882059" y="3578256"/>
            <a:ext cx="14491922" cy="302263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1984" b="1">
                <a:solidFill>
                  <a:srgbClr val="232266"/>
                </a:solidFill>
                <a:latin typeface="&quot;Alfa Slab One&quot;"/>
              </a:rPr>
              <a:t>Key Takeaways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1182984" y="4491616"/>
            <a:ext cx="252033" cy="252034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84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1561034" y="4424898"/>
            <a:ext cx="13385806" cy="377967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84" b="1">
                <a:solidFill>
                  <a:srgbClr val="000000"/>
                </a:solidFill>
                <a:latin typeface="Poppins"/>
              </a:rPr>
              <a:t>First autonomous predictive maintenance system integrating Generative AI with IIoT at industrial scale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1182984" y="5065167"/>
            <a:ext cx="252033" cy="252034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84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1561034" y="4998445"/>
            <a:ext cx="13385806" cy="377967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84" b="1">
                <a:solidFill>
                  <a:srgbClr val="000000"/>
                </a:solidFill>
                <a:latin typeface="Poppins"/>
              </a:rPr>
              <a:t>Proven technology stack ready for deployment across manufacturing, energy, and transportation sectors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1182984" y="5638714"/>
            <a:ext cx="252033" cy="252034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84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1561034" y="5571996"/>
            <a:ext cx="13385806" cy="377967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84" b="1">
                <a:solidFill>
                  <a:srgbClr val="000000"/>
                </a:solidFill>
                <a:latin typeface="Poppins"/>
              </a:rPr>
              <a:t>Architecture supports 10,000+ connected devices per deployment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1182984" y="6212265"/>
            <a:ext cx="252033" cy="252034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84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1561034" y="6145543"/>
            <a:ext cx="13385806" cy="377967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84" b="1">
                <a:solidFill>
                  <a:srgbClr val="000000"/>
                </a:solidFill>
                <a:latin typeface="Poppins"/>
              </a:rPr>
              <a:t>Future roadmap: Integration with digital twins and federated learning across facilities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764</Words>
  <Application>Microsoft Office PowerPoint</Application>
  <PresentationFormat>Custom</PresentationFormat>
  <Paragraphs>111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"Alfa Slab One"</vt:lpstr>
      <vt:lpstr>Arial</vt:lpstr>
      <vt:lpstr>Calibri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ruben dario valenzuela colina</cp:lastModifiedBy>
  <cp:revision>3</cp:revision>
  <dcterms:created xsi:type="dcterms:W3CDTF">2006-08-16T00:00:00Z</dcterms:created>
  <dcterms:modified xsi:type="dcterms:W3CDTF">2026-04-27T16:48:07Z</dcterms:modified>
</cp:coreProperties>
</file>