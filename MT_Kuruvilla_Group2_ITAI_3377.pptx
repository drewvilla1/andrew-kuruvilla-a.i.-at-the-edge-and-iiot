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3" d="100"/>
          <a:sy n="83" d="100"/>
        </p:scale>
        <p:origin x="58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1803400"/>
            <a:ext cx="7239000" cy="226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60000"/>
              </a:lnSpc>
              <a:defRPr/>
            </a:pPr>
            <a:r>
              <a:rPr lang="en-US" sz="4900" b="1">
                <a:solidFill>
                  <a:srgbClr val="FFDA75"/>
                </a:solidFill>
                <a:latin typeface="Belanosima"/>
              </a:rPr>
              <a:t>Cybersecurity Plan for AI-Integrated IIoT System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4356100"/>
            <a:ext cx="72390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IndustriCore Smart Manufacturing Facility - A Comprehensive Security Framework for Modern Industrial Operations</a:t>
            </a:r>
            <a:endParaRPr lang="en-US" sz="1100"/>
          </a:p>
        </p:txBody>
      </p:sp>
      <p:sp>
        <p:nvSpPr>
          <p:cNvPr id="8" name="TextBox 8"/>
          <p:cNvSpPr txBox="1"/>
          <p:nvPr/>
        </p:nvSpPr>
        <p:spPr>
          <a:xfrm>
            <a:off x="876300" y="5778500"/>
            <a:ext cx="72390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2400" b="1">
                <a:solidFill>
                  <a:srgbClr val="FFFFFF"/>
                </a:solidFill>
                <a:latin typeface="Poppins"/>
              </a:rPr>
              <a:t>Course: ITAI 3377 – Cybersecurity for AI-Integrated IIoT Systems</a:t>
            </a:r>
            <a:endParaRPr lang="en-US" sz="1100"/>
          </a:p>
        </p:txBody>
      </p:sp>
      <p:sp>
        <p:nvSpPr>
          <p:cNvPr id="9" name="TextBox 9"/>
          <p:cNvSpPr txBox="1"/>
          <p:nvPr/>
        </p:nvSpPr>
        <p:spPr>
          <a:xfrm>
            <a:off x="876300" y="6718300"/>
            <a:ext cx="7239000" cy="596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500" b="1">
                <a:solidFill>
                  <a:srgbClr val="FFFFFF"/>
                </a:solidFill>
                <a:latin typeface="Poppins"/>
              </a:rPr>
              <a:t>Group Members: Andrew Kuruvilla, Ezra Bakatubia, Marques Roberson, Ruben Alvarado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298700"/>
            <a:ext cx="14490700" cy="601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298700"/>
            <a:ext cx="4660900" cy="60198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43000" y="2565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91200" y="2298700"/>
            <a:ext cx="4660900" cy="60198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57900" y="2565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06100" y="2298700"/>
            <a:ext cx="4660900" cy="60198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972800" y="2565400"/>
            <a:ext cx="749300" cy="749300"/>
          </a:xfrm>
          <a:prstGeom prst="roundRect">
            <a:avLst>
              <a:gd name="adj" fmla="val 49152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876300" y="8001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DA75"/>
                </a:solidFill>
                <a:latin typeface="Belanosima"/>
              </a:rPr>
              <a:t>AI-Integrated IIoT: The Convergence Creating New Security Imperatives</a:t>
            </a:r>
            <a:endParaRPr lang="en-US" sz="1100"/>
          </a:p>
        </p:txBody>
      </p:sp>
      <p:sp>
        <p:nvSpPr>
          <p:cNvPr id="12" name="TextBox 12"/>
          <p:cNvSpPr txBox="1"/>
          <p:nvPr/>
        </p:nvSpPr>
        <p:spPr>
          <a:xfrm>
            <a:off x="1143000" y="3568700"/>
            <a:ext cx="41275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What is AI-Integrated IIoT?</a:t>
            </a:r>
            <a:endParaRPr lang="en-US" sz="1100"/>
          </a:p>
        </p:txBody>
      </p:sp>
      <p:sp>
        <p:nvSpPr>
          <p:cNvPr id="13" name="TextBox 13"/>
          <p:cNvSpPr txBox="1"/>
          <p:nvPr/>
        </p:nvSpPr>
        <p:spPr>
          <a:xfrm>
            <a:off x="6057900" y="3568700"/>
            <a:ext cx="4127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Project Purpose</a:t>
            </a:r>
            <a:endParaRPr lang="en-US" sz="1100"/>
          </a:p>
        </p:txBody>
      </p:sp>
      <p:sp>
        <p:nvSpPr>
          <p:cNvPr id="14" name="TextBox 14"/>
          <p:cNvSpPr txBox="1"/>
          <p:nvPr/>
        </p:nvSpPr>
        <p:spPr>
          <a:xfrm>
            <a:off x="10972800" y="3568700"/>
            <a:ext cx="4127500" cy="901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Critical Security Imperative</a:t>
            </a:r>
            <a:endParaRPr lang="en-US" sz="1100"/>
          </a:p>
        </p:txBody>
      </p:sp>
      <p:sp>
        <p:nvSpPr>
          <p:cNvPr id="15" name="TextBox 15"/>
          <p:cNvSpPr txBox="1"/>
          <p:nvPr/>
        </p:nvSpPr>
        <p:spPr>
          <a:xfrm>
            <a:off x="1143000" y="4660900"/>
            <a:ext cx="4127500" cy="3390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Industrial Internet of Things enhanced with artificial intelligence and machine learning capabilities for predictive analytics, autonomous decision-making, and real-time operational optimization in manufacturing environments.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6057900" y="4203700"/>
            <a:ext cx="4127500" cy="2641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Develop a comprehensive cybersecurity framework for IndustriCore smart factory, addressing vulnerabilities across IT, OT, cloud infrastructure, and AI model security layers.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0972800" y="4660900"/>
            <a:ext cx="4127500" cy="3022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Over 60% of industrial cyber incidents target OT and IIoT systems. AI integration exponentially expands attack surfaces, making robust security essential for operational continuity and safety.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819400"/>
            <a:ext cx="241300" cy="241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2819400"/>
            <a:ext cx="241300" cy="2413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28194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057400"/>
            <a:ext cx="14490700" cy="312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057400"/>
            <a:ext cx="4660900" cy="3124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68400" y="2311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91200" y="2057400"/>
            <a:ext cx="4660900" cy="3124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083300" y="2311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06100" y="2057400"/>
            <a:ext cx="4660900" cy="3124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0998200" y="2311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6300" y="5359400"/>
            <a:ext cx="14490700" cy="3124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5359400"/>
            <a:ext cx="4660900" cy="3124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68400" y="5613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5791200" y="5359400"/>
            <a:ext cx="4660900" cy="3124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6083300" y="5613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706100" y="5359400"/>
            <a:ext cx="4660900" cy="3124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0998200" y="5613400"/>
            <a:ext cx="711200" cy="7112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76300" y="647700"/>
            <a:ext cx="14490700" cy="114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700" b="1">
                <a:solidFill>
                  <a:srgbClr val="FFDA75"/>
                </a:solidFill>
                <a:latin typeface="Belanosima"/>
              </a:rPr>
              <a:t>IndustriCore System Overview: Six Interconnected Component Categories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3263900"/>
            <a:ext cx="41275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DA75"/>
                </a:solidFill>
                <a:latin typeface="Belanosima"/>
              </a:rPr>
              <a:t>PLCs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057900" y="3263900"/>
            <a:ext cx="41275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DA75"/>
                </a:solidFill>
                <a:latin typeface="Belanosima"/>
              </a:rPr>
              <a:t>Sensors &amp; Actuators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72800" y="3263900"/>
            <a:ext cx="41275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DA75"/>
                </a:solidFill>
                <a:latin typeface="Belanosima"/>
              </a:rPr>
              <a:t>Robotic Arms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6565900"/>
            <a:ext cx="41275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DA75"/>
                </a:solidFill>
                <a:latin typeface="Belanosima"/>
              </a:rPr>
              <a:t>Edge AI Nodes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057900" y="6565900"/>
            <a:ext cx="41275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DA75"/>
                </a:solidFill>
                <a:latin typeface="Belanosima"/>
              </a:rPr>
              <a:t>Cloud Services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972800" y="6565900"/>
            <a:ext cx="4127500" cy="41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800" b="1">
                <a:solidFill>
                  <a:srgbClr val="FFDA75"/>
                </a:solidFill>
                <a:latin typeface="Belanosima"/>
              </a:rPr>
              <a:t>SCADA/HMI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43000" y="3860800"/>
            <a:ext cx="41275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Programmable Logic Controllers for production line automation and control logic execution.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057900" y="3860800"/>
            <a:ext cx="41275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Industrial sensors for real-time data collection and actuators for physical process control.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0972800" y="3860800"/>
            <a:ext cx="41275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Precision assembly systems and automated material handling equipment.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43000" y="7162800"/>
            <a:ext cx="41275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Local inference engines and preprocessing units at device level for low-latency decisions.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057900" y="7162800"/>
            <a:ext cx="41275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AWS-based infrastructure for data storage, model training, and advanced analytics.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972800" y="7162800"/>
            <a:ext cx="4127500" cy="1066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800" b="1">
                <a:solidFill>
                  <a:srgbClr val="FFFFFF"/>
                </a:solidFill>
                <a:latin typeface="Poppins"/>
              </a:rPr>
              <a:t>Supervisory control, data acquisition systems, and human-machine interfaces.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7000" y="2552700"/>
            <a:ext cx="228600" cy="2286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2552700"/>
            <a:ext cx="228600" cy="228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26800" y="2552700"/>
            <a:ext cx="228600" cy="2286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7000" y="5842000"/>
            <a:ext cx="228600" cy="2286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11900" y="5842000"/>
            <a:ext cx="228600" cy="2286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39500" y="584200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155700"/>
            <a:ext cx="14490700" cy="760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1557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5156200" y="2413000"/>
            <a:ext cx="10134600" cy="127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876300" y="24257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5753100" y="3683000"/>
            <a:ext cx="9537700" cy="127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37084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6350000" y="4965700"/>
            <a:ext cx="8940800" cy="127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6300" y="49784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6946900" y="6235700"/>
            <a:ext cx="8343900" cy="127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62484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7556500" y="7505700"/>
            <a:ext cx="7747000" cy="127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6300" y="7531100"/>
            <a:ext cx="14490700" cy="1231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8153400" y="8788400"/>
            <a:ext cx="7150100" cy="127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155700"/>
            <a:ext cx="596900" cy="1231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00" y="2425700"/>
            <a:ext cx="1244600" cy="1231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6000" y="3708400"/>
            <a:ext cx="1866900" cy="12319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8500" y="4978400"/>
            <a:ext cx="2501900" cy="1231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1000" y="6248400"/>
            <a:ext cx="3136900" cy="12319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03500" y="7531100"/>
            <a:ext cx="3771900" cy="12319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876300" y="355600"/>
            <a:ext cx="144907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100" b="1">
                <a:solidFill>
                  <a:srgbClr val="FFDA75"/>
                </a:solidFill>
                <a:latin typeface="Belanosima"/>
              </a:rPr>
              <a:t>Layered Architecture: Purdue Model Adaptation for AI-IIoT Environment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5346700" y="1409700"/>
            <a:ext cx="97663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FFDA75"/>
                </a:solidFill>
                <a:latin typeface="Belanosima"/>
              </a:rPr>
              <a:t>Level 0-1: Field Layer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5943600" y="2679700"/>
            <a:ext cx="91694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FFDA75"/>
                </a:solidFill>
                <a:latin typeface="Belanosima"/>
              </a:rPr>
              <a:t>Level 2: Edge Computing Layer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540500" y="3962400"/>
            <a:ext cx="85598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FFDA75"/>
                </a:solidFill>
                <a:latin typeface="Belanosima"/>
              </a:rPr>
              <a:t>Level 3: Network/Security Layer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7137400" y="5232400"/>
            <a:ext cx="79629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FFDA75"/>
                </a:solidFill>
                <a:latin typeface="Belanosima"/>
              </a:rPr>
              <a:t>Level 4: Cloud &amp; AI Layer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7734300" y="6502400"/>
            <a:ext cx="7366000" cy="228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FFDA75"/>
                </a:solidFill>
                <a:latin typeface="Belanosima"/>
              </a:rPr>
              <a:t>Level 5: Application/Control Layer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331200" y="7658100"/>
            <a:ext cx="6769100" cy="469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1500" b="1">
                <a:solidFill>
                  <a:srgbClr val="FFDA75"/>
                </a:solidFill>
                <a:latin typeface="Belanosima"/>
              </a:rPr>
              <a:t>Level 6: Human/Administrative Layer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5346700" y="1739900"/>
            <a:ext cx="97663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Poppins"/>
              </a:rPr>
              <a:t>Physical sensors, actuators, PLCs with direct process control and data acquisition.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5943600" y="3009900"/>
            <a:ext cx="91694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Poppins"/>
              </a:rPr>
              <a:t>Local AI inference nodes, data aggregation gateways, and edge preprocessing.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6540500" y="4292600"/>
            <a:ext cx="85598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Poppins"/>
              </a:rPr>
              <a:t>DMZ zones, firewalls, network segmentation, and OT/IT boundary protection.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7137400" y="5562600"/>
            <a:ext cx="79629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Poppins"/>
              </a:rPr>
              <a:t>AWS IoT Core ingestion, S3 data storage, SageMaker model training and inference.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7734300" y="6845300"/>
            <a:ext cx="73660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Poppins"/>
              </a:rPr>
              <a:t>SCADA systems, MES, enterprise resource planning, and business integration.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331200" y="8242300"/>
            <a:ext cx="6769100" cy="39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000" b="1">
                <a:solidFill>
                  <a:srgbClr val="FFFFFF"/>
                </a:solidFill>
                <a:latin typeface="Poppins"/>
              </a:rPr>
              <a:t>User access management, dashboards, policy enforcement, and governance.</a:t>
            </a:r>
            <a:endParaRPr lang="en-US" sz="1100"/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2300" y="1714500"/>
            <a:ext cx="114300" cy="114300"/>
          </a:xfrm>
          <a:prstGeom prst="rect">
            <a:avLst/>
          </a:prstGeom>
        </p:spPr>
      </p:pic>
      <p:pic>
        <p:nvPicPr>
          <p:cNvPr id="37" name="Pictur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2300" y="2984500"/>
            <a:ext cx="114300" cy="114300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2300" y="4267200"/>
            <a:ext cx="114300" cy="1143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32300" y="5537200"/>
            <a:ext cx="114300" cy="1143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2300" y="6819900"/>
            <a:ext cx="114300" cy="1143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2300" y="8089900"/>
            <a:ext cx="114300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2171700"/>
            <a:ext cx="14490700" cy="6261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21717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21717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495800" y="21717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495800" y="21717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115300" y="21717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115300" y="21717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747500" y="2171700"/>
            <a:ext cx="3619500" cy="331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1747500" y="21717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5499100"/>
            <a:ext cx="3619500" cy="293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76300" y="54991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495800" y="5499100"/>
            <a:ext cx="3619500" cy="293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4495800" y="54991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8115300" y="5499100"/>
            <a:ext cx="3619500" cy="2933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115300" y="5499100"/>
            <a:ext cx="3619500" cy="1003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2171700"/>
            <a:ext cx="3619500" cy="9906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2171700"/>
            <a:ext cx="3619500" cy="990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2171700"/>
            <a:ext cx="3619500" cy="990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7500" y="2171700"/>
            <a:ext cx="3619500" cy="990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5499100"/>
            <a:ext cx="3619500" cy="990600"/>
          </a:xfrm>
          <a:prstGeom prst="rect">
            <a:avLst/>
          </a:prstGeom>
        </p:spPr>
      </p:pic>
      <p:pic>
        <p:nvPicPr>
          <p:cNvPr id="24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5800" y="5499100"/>
            <a:ext cx="3619500" cy="990600"/>
          </a:xfrm>
          <a:prstGeom prst="rect">
            <a:avLst/>
          </a:prstGeom>
        </p:spPr>
      </p:pic>
      <p:pic>
        <p:nvPicPr>
          <p:cNvPr id="25" name="Picture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5499100"/>
            <a:ext cx="3619500" cy="990600"/>
          </a:xfrm>
          <a:prstGeom prst="rect">
            <a:avLst/>
          </a:prstGeom>
        </p:spPr>
      </p:pic>
      <p:sp>
        <p:nvSpPr>
          <p:cNvPr id="26" name="TextBox 26"/>
          <p:cNvSpPr txBox="1"/>
          <p:nvPr/>
        </p:nvSpPr>
        <p:spPr>
          <a:xfrm>
            <a:off x="876300" y="685800"/>
            <a:ext cx="14490700" cy="1206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900" b="1">
                <a:solidFill>
                  <a:srgbClr val="FFDA75"/>
                </a:solidFill>
                <a:latin typeface="Belanosima"/>
              </a:rPr>
              <a:t>Data Flow Architecture: Seven-Stage Pipeline from Sensor to Action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30300" y="34925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1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4749800" y="34925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2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369300" y="34925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3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2001500" y="34925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4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1130300" y="68072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5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4749800" y="68072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6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369300" y="6807200"/>
            <a:ext cx="3111500" cy="444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900" b="1">
                <a:solidFill>
                  <a:srgbClr val="FFDA75"/>
                </a:solidFill>
                <a:latin typeface="Belanosima"/>
              </a:rPr>
              <a:t>Stage 7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130300" y="41148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Sensors / Cameras / RFID → Data Capture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4749800" y="41148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Edge AI Nodes / Gateways → Local Processing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369300" y="41148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SCADA / OPC-UA → Data Aggregation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2001500" y="4114800"/>
            <a:ext cx="3111500" cy="1130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OT Network / DMZ / Firewall → Security Control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1130300" y="74422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AWS IoT Core / S3 / SageMaker → Cloud AI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4749800" y="74422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AI Inference Results → SCADA Return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8369300" y="7442200"/>
            <a:ext cx="31115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900" b="1">
                <a:solidFill>
                  <a:srgbClr val="FFFFFF"/>
                </a:solidFill>
                <a:latin typeface="Poppins"/>
              </a:rPr>
              <a:t>PLC Commands → Robotic Actuation</a:t>
            </a:r>
            <a:endParaRPr lang="en-US" sz="1100"/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8100" y="2565400"/>
            <a:ext cx="215900" cy="2159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4900" y="2552700"/>
            <a:ext cx="241300" cy="2413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4400" y="2552700"/>
            <a:ext cx="241300" cy="2413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23900" y="2552700"/>
            <a:ext cx="241300" cy="2413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2700" y="5880100"/>
            <a:ext cx="241300" cy="241300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84900" y="5880100"/>
            <a:ext cx="241300" cy="241300"/>
          </a:xfrm>
          <a:prstGeom prst="rect">
            <a:avLst/>
          </a:prstGeom>
        </p:spPr>
      </p:pic>
      <p:pic>
        <p:nvPicPr>
          <p:cNvPr id="47" name="Picture 4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04400" y="5880100"/>
            <a:ext cx="241300" cy="241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79600"/>
            <a:ext cx="14490700" cy="323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879600"/>
            <a:ext cx="4660900" cy="3238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193800" y="2120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5791200" y="1879600"/>
            <a:ext cx="4660900" cy="3238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6108700" y="2120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10706100" y="1879600"/>
            <a:ext cx="4660900" cy="3238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11023600" y="21209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876300" y="5283200"/>
            <a:ext cx="14490700" cy="3238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76300" y="5283200"/>
            <a:ext cx="4660900" cy="3238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1193800" y="55245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5791200" y="5283200"/>
            <a:ext cx="4660900" cy="3238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6108700" y="55245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10706100" y="5283200"/>
            <a:ext cx="4660900" cy="3238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11023600" y="5524500"/>
            <a:ext cx="647700" cy="647700"/>
          </a:xfrm>
          <a:prstGeom prst="roundRect">
            <a:avLst>
              <a:gd name="adj" fmla="val 4901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876300" y="596900"/>
            <a:ext cx="144907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400" b="1">
                <a:solidFill>
                  <a:srgbClr val="FFDA75"/>
                </a:solidFill>
                <a:latin typeface="Belanosima"/>
              </a:rPr>
              <a:t>Vulnerability Landscape: Six Critical Attack Surface Categories Identified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143000" y="2984500"/>
            <a:ext cx="41275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Device Vulnerabilities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6057900" y="2984500"/>
            <a:ext cx="41275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Network Vulnerabilities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0972800" y="2984500"/>
            <a:ext cx="41275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Data Vulnerabilities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6388100"/>
            <a:ext cx="41275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Application Vulnerabilities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6057900" y="6388100"/>
            <a:ext cx="41275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AI Model Vulnerabilities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0972800" y="6388100"/>
            <a:ext cx="4127500" cy="774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Human-Factor Vulnerabilities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43000" y="3530600"/>
            <a:ext cx="4127500" cy="97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Poppins"/>
              </a:rPr>
              <a:t>Unpatched firmware, default credentials, insecure protocols on PLCs and IoT devices.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6057900" y="3924300"/>
            <a:ext cx="4127500" cy="97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Poppins"/>
              </a:rPr>
              <a:t>Flat topology, inadequate segmentation, lateral movement risks across OT/IT.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0972800" y="3530600"/>
            <a:ext cx="4127500" cy="97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Poppins"/>
              </a:rPr>
              <a:t>Unencrypted transmission, weak access controls, insecure cloud storage configurations.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43000" y="7327900"/>
            <a:ext cx="4127500" cy="97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Poppins"/>
              </a:rPr>
              <a:t>SCADA exploits, weak authentication mechanisms, privilege escalation paths.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6057900" y="7327900"/>
            <a:ext cx="4127500" cy="977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Poppins"/>
              </a:rPr>
              <a:t>Data poisoning attacks, adversarial inputs, model extraction threats.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0972800" y="7327900"/>
            <a:ext cx="4127500" cy="64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700" b="1">
                <a:solidFill>
                  <a:srgbClr val="FFFFFF"/>
                </a:solidFill>
                <a:latin typeface="Poppins"/>
              </a:rPr>
              <a:t>Phishing susceptibility, social engineering, insider threat risks.</a:t>
            </a:r>
            <a:endParaRPr lang="en-US" sz="1100"/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336800"/>
            <a:ext cx="215900" cy="2159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900" y="2336800"/>
            <a:ext cx="215900" cy="2159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2336800"/>
            <a:ext cx="215900" cy="2159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5740400"/>
            <a:ext cx="215900" cy="2159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4600" y="5740400"/>
            <a:ext cx="215900" cy="21590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26800" y="5740400"/>
            <a:ext cx="215900" cy="215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333500"/>
            <a:ext cx="14490700" cy="7213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333500"/>
            <a:ext cx="3429000" cy="4521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06500" y="15621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59300" y="1333500"/>
            <a:ext cx="3429000" cy="4521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889500" y="15621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242300" y="1333500"/>
            <a:ext cx="3429000" cy="4521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572500" y="15621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938000" y="1333500"/>
            <a:ext cx="3429000" cy="4521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255500" y="15621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6070600"/>
            <a:ext cx="7112000" cy="2476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206500" y="62992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242300" y="6070600"/>
            <a:ext cx="7112000" cy="2476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8572500" y="6299200"/>
            <a:ext cx="635000" cy="635000"/>
          </a:xfrm>
          <a:prstGeom prst="roundRect">
            <a:avLst>
              <a:gd name="adj" fmla="val 5000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876300" y="584200"/>
            <a:ext cx="14490700" cy="508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FFDA75"/>
                </a:solidFill>
                <a:latin typeface="Belanosima"/>
              </a:rPr>
              <a:t>Critical Vulnerabilities Demanding Immediate Remediation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1143000" y="2413000"/>
            <a:ext cx="2895600" cy="114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PLC Authentication Weaknesses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4826000" y="2413000"/>
            <a:ext cx="28956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Weak Network Segmentation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8509000" y="2413000"/>
            <a:ext cx="2895600" cy="762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Misconfigured S3 Buckets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2204700" y="2413000"/>
            <a:ext cx="2895600" cy="114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AI Data Poisoning Vectors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7150100"/>
            <a:ext cx="65786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Inadequate Input Validation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509000" y="7150100"/>
            <a:ext cx="65786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Phishing Vulnerability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143000" y="3708400"/>
            <a:ext cx="2895600" cy="1917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40% of controllers using default passwords enable unauthorized control access and manipulation.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4826000" y="3327400"/>
            <a:ext cx="2895600" cy="1270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Flat OT/IT network topology allows direct cloud-to-PLC access paths for attackers.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8509000" y="3327400"/>
            <a:ext cx="2895600" cy="158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Public read permissions expose sensitive production data and intellectual property.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2204700" y="3708400"/>
            <a:ext cx="2895600" cy="158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Unsanitized sensor inputs can corrupt ML model training datasets and predictions.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1143000" y="7683500"/>
            <a:ext cx="6578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SQL injection and command injection vulnerabilities present in HMI interfaces.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509000" y="7683500"/>
            <a:ext cx="65786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85% employee click rate in simulated security testing reveals high social engineering risk.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1778000"/>
            <a:ext cx="203200" cy="2032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2700" y="1778000"/>
            <a:ext cx="203200" cy="2032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0" y="1778000"/>
            <a:ext cx="203200" cy="2032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400" y="1778000"/>
            <a:ext cx="203200" cy="203200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6515100"/>
            <a:ext cx="203200" cy="203200"/>
          </a:xfrm>
          <a:prstGeom prst="rect">
            <a:avLst/>
          </a:prstGeom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00" y="65151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03400"/>
            <a:ext cx="14490700" cy="675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803400"/>
            <a:ext cx="3429000" cy="34290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065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59300" y="1803400"/>
            <a:ext cx="3429000" cy="34290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8895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242300" y="1803400"/>
            <a:ext cx="3429000" cy="34290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5852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938000" y="1803400"/>
            <a:ext cx="3429000" cy="34290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2682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5448300"/>
            <a:ext cx="3429000" cy="3111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206500" y="5664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4559300" y="5448300"/>
            <a:ext cx="3429000" cy="3111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4889500" y="5664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8242300" y="5448300"/>
            <a:ext cx="3429000" cy="3111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585200" y="5664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11938000" y="5448300"/>
            <a:ext cx="3429000" cy="31115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12268200" y="56642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TextBox 21"/>
          <p:cNvSpPr txBox="1"/>
          <p:nvPr/>
        </p:nvSpPr>
        <p:spPr>
          <a:xfrm>
            <a:off x="876300" y="571500"/>
            <a:ext cx="144907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FFDA75"/>
                </a:solidFill>
                <a:latin typeface="Belanosima"/>
              </a:rPr>
              <a:t>Multi-Layered Defense Strategy: Eight Foundational Security Controls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28575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Secure-by-Design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4826000" y="2857500"/>
            <a:ext cx="2895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MFA &amp; RBAC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509000" y="28575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End-to-End Encryption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204700" y="28575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Micro-Segmentation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43000" y="65024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AI Model Protection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4826000" y="65024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Vendor Access Control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509000" y="65024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Anomaly Detection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12204700" y="6502400"/>
            <a:ext cx="28956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Incident Response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1143000" y="3759200"/>
            <a:ext cx="28956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Integrate security requirements during architecture design phase.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4826000" y="3390900"/>
            <a:ext cx="28956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Multi-factor authentication and role-based access control across all layers.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509000" y="37592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TLS 1.3 in transit, AES-256 at rest for data protection.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12204700" y="3759200"/>
            <a:ext cx="2895600" cy="1244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Zero-trust zones isolating OT/IT/DMZ/Cloud with firewall policies.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1143000" y="74041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Input sanitization, adversarial testing, secure versioning.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4826000" y="74041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Just-in-time privileged access with session monitoring.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509000" y="74041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ML-based behavioral analytics for threat identification.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12204700" y="74041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SOAR playbooks for rapid automated threat containment.</a:t>
            </a:r>
            <a:endParaRPr lang="en-US" sz="1100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03200" cy="203200"/>
          </a:xfrm>
          <a:prstGeom prst="rect">
            <a:avLst/>
          </a:prstGeom>
        </p:spPr>
      </p:pic>
      <p:pic>
        <p:nvPicPr>
          <p:cNvPr id="39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2700" y="2235200"/>
            <a:ext cx="203200" cy="203200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400" y="2235200"/>
            <a:ext cx="203200" cy="203200"/>
          </a:xfrm>
          <a:prstGeom prst="rect">
            <a:avLst/>
          </a:prstGeom>
        </p:spPr>
      </p:pic>
      <p:pic>
        <p:nvPicPr>
          <p:cNvPr id="41" name="Picture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1400" y="2235200"/>
            <a:ext cx="203200" cy="203200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5880100"/>
            <a:ext cx="203200" cy="203200"/>
          </a:xfrm>
          <a:prstGeom prst="rect">
            <a:avLst/>
          </a:prstGeom>
        </p:spPr>
      </p:pic>
      <p:pic>
        <p:nvPicPr>
          <p:cNvPr id="43" name="Picture 4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400" y="5880100"/>
            <a:ext cx="203200" cy="203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400" y="5880100"/>
            <a:ext cx="203200" cy="203200"/>
          </a:xfrm>
          <a:prstGeom prst="rect">
            <a:avLst/>
          </a:prstGeom>
        </p:spPr>
      </p:pic>
      <p:pic>
        <p:nvPicPr>
          <p:cNvPr id="45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1400" y="58801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41500"/>
            <a:ext cx="14490700" cy="6159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102600" y="1841500"/>
            <a:ext cx="12700" cy="6159500"/>
          </a:xfrm>
          <a:prstGeom prst="roundRect">
            <a:avLst>
              <a:gd name="adj" fmla="val 50000"/>
            </a:avLst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876300" y="1841500"/>
            <a:ext cx="7239000" cy="190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7835900" y="1841500"/>
            <a:ext cx="558800" cy="469900"/>
          </a:xfrm>
          <a:prstGeom prst="rect">
            <a:avLst/>
          </a:prstGeom>
          <a:solidFill>
            <a:srgbClr val="5C4E16"/>
          </a:solidFill>
          <a:ln w="12700">
            <a:solidFill>
              <a:srgbClr val="A994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7112000" y="2070100"/>
            <a:ext cx="749300" cy="12700"/>
          </a:xfrm>
          <a:prstGeom prst="rect">
            <a:avLst/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76300" y="1905000"/>
            <a:ext cx="5981700" cy="148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115300" y="3111500"/>
            <a:ext cx="7239000" cy="168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7835900" y="3111500"/>
            <a:ext cx="558800" cy="469900"/>
          </a:xfrm>
          <a:prstGeom prst="rect">
            <a:avLst/>
          </a:prstGeom>
          <a:solidFill>
            <a:srgbClr val="5C4E16"/>
          </a:solidFill>
          <a:ln w="12700">
            <a:solidFill>
              <a:srgbClr val="A994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8382000" y="3340100"/>
            <a:ext cx="749300" cy="12700"/>
          </a:xfrm>
          <a:prstGeom prst="rect">
            <a:avLst/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9385300" y="3187700"/>
            <a:ext cx="5981700" cy="148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876300" y="4178300"/>
            <a:ext cx="7239000" cy="168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7835900" y="4178300"/>
            <a:ext cx="558800" cy="469900"/>
          </a:xfrm>
          <a:prstGeom prst="rect">
            <a:avLst/>
          </a:prstGeom>
          <a:solidFill>
            <a:srgbClr val="5C4E16"/>
          </a:solidFill>
          <a:ln w="12700">
            <a:solidFill>
              <a:srgbClr val="A994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AutoShape 16"/>
          <p:cNvSpPr/>
          <p:nvPr/>
        </p:nvSpPr>
        <p:spPr>
          <a:xfrm>
            <a:off x="7112000" y="4406900"/>
            <a:ext cx="749300" cy="12700"/>
          </a:xfrm>
          <a:prstGeom prst="rect">
            <a:avLst/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17" name="AutoShape 17"/>
          <p:cNvSpPr/>
          <p:nvPr/>
        </p:nvSpPr>
        <p:spPr>
          <a:xfrm>
            <a:off x="876300" y="4241800"/>
            <a:ext cx="5981700" cy="14859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AutoShape 18"/>
          <p:cNvSpPr/>
          <p:nvPr/>
        </p:nvSpPr>
        <p:spPr>
          <a:xfrm>
            <a:off x="8115300" y="5232400"/>
            <a:ext cx="7239000" cy="168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AutoShape 19"/>
          <p:cNvSpPr/>
          <p:nvPr/>
        </p:nvSpPr>
        <p:spPr>
          <a:xfrm>
            <a:off x="7835900" y="5232400"/>
            <a:ext cx="558800" cy="469900"/>
          </a:xfrm>
          <a:prstGeom prst="rect">
            <a:avLst/>
          </a:prstGeom>
          <a:solidFill>
            <a:srgbClr val="5C4E16"/>
          </a:solidFill>
          <a:ln w="12700">
            <a:solidFill>
              <a:srgbClr val="A994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AutoShape 20"/>
          <p:cNvSpPr/>
          <p:nvPr/>
        </p:nvSpPr>
        <p:spPr>
          <a:xfrm>
            <a:off x="8382000" y="5461000"/>
            <a:ext cx="749300" cy="12700"/>
          </a:xfrm>
          <a:prstGeom prst="rect">
            <a:avLst/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21" name="AutoShape 21"/>
          <p:cNvSpPr/>
          <p:nvPr/>
        </p:nvSpPr>
        <p:spPr>
          <a:xfrm>
            <a:off x="9385300" y="5308600"/>
            <a:ext cx="5981700" cy="115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AutoShape 22"/>
          <p:cNvSpPr/>
          <p:nvPr/>
        </p:nvSpPr>
        <p:spPr>
          <a:xfrm>
            <a:off x="876300" y="6299200"/>
            <a:ext cx="7239000" cy="1689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7835900" y="6299200"/>
            <a:ext cx="558800" cy="469900"/>
          </a:xfrm>
          <a:prstGeom prst="rect">
            <a:avLst/>
          </a:prstGeom>
          <a:solidFill>
            <a:srgbClr val="5C4E16"/>
          </a:solidFill>
          <a:ln w="12700">
            <a:solidFill>
              <a:srgbClr val="A9942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AutoShape 24"/>
          <p:cNvSpPr/>
          <p:nvPr/>
        </p:nvSpPr>
        <p:spPr>
          <a:xfrm>
            <a:off x="7112000" y="6527800"/>
            <a:ext cx="749300" cy="12700"/>
          </a:xfrm>
          <a:prstGeom prst="rect">
            <a:avLst/>
          </a:prstGeom>
          <a:solidFill>
            <a:srgbClr val="A99428"/>
          </a:solidFill>
        </p:spPr>
        <p:txBody>
          <a:bodyPr/>
          <a:lstStyle/>
          <a:p>
            <a:endParaRPr lang="en-US"/>
          </a:p>
        </p:txBody>
      </p:sp>
      <p:sp>
        <p:nvSpPr>
          <p:cNvPr id="25" name="AutoShape 25"/>
          <p:cNvSpPr/>
          <p:nvPr/>
        </p:nvSpPr>
        <p:spPr>
          <a:xfrm>
            <a:off x="876300" y="6375400"/>
            <a:ext cx="5981700" cy="1155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Box 26"/>
          <p:cNvSpPr txBox="1"/>
          <p:nvPr/>
        </p:nvSpPr>
        <p:spPr>
          <a:xfrm>
            <a:off x="876300" y="571500"/>
            <a:ext cx="14490700" cy="1016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300" b="1">
                <a:solidFill>
                  <a:srgbClr val="FFDA75"/>
                </a:solidFill>
                <a:latin typeface="Belanosima"/>
              </a:rPr>
              <a:t>Phased Implementation Roadmap: 18-Month Security Transformation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8064500" y="19177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Belanosima"/>
              </a:rPr>
              <a:t>1</a:t>
            </a:r>
            <a:endParaRPr lang="en-US" sz="1100"/>
          </a:p>
        </p:txBody>
      </p:sp>
      <p:sp>
        <p:nvSpPr>
          <p:cNvPr id="28" name="TextBox 28"/>
          <p:cNvSpPr txBox="1"/>
          <p:nvPr/>
        </p:nvSpPr>
        <p:spPr>
          <a:xfrm>
            <a:off x="876300" y="19050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Phase 1: Months 1-3</a:t>
            </a:r>
            <a:endParaRPr lang="en-US" sz="1100"/>
          </a:p>
        </p:txBody>
      </p:sp>
      <p:sp>
        <p:nvSpPr>
          <p:cNvPr id="29" name="TextBox 29"/>
          <p:cNvSpPr txBox="1"/>
          <p:nvPr/>
        </p:nvSpPr>
        <p:spPr>
          <a:xfrm>
            <a:off x="8039100" y="31877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Belanosima"/>
              </a:rPr>
              <a:t>2</a:t>
            </a:r>
            <a:endParaRPr lang="en-US" sz="1100"/>
          </a:p>
        </p:txBody>
      </p:sp>
      <p:sp>
        <p:nvSpPr>
          <p:cNvPr id="30" name="TextBox 30"/>
          <p:cNvSpPr txBox="1"/>
          <p:nvPr/>
        </p:nvSpPr>
        <p:spPr>
          <a:xfrm>
            <a:off x="9385300" y="31877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Phase 2: Months 4-6</a:t>
            </a:r>
            <a:endParaRPr lang="en-US" sz="1100"/>
          </a:p>
        </p:txBody>
      </p:sp>
      <p:sp>
        <p:nvSpPr>
          <p:cNvPr id="31" name="TextBox 31"/>
          <p:cNvSpPr txBox="1"/>
          <p:nvPr/>
        </p:nvSpPr>
        <p:spPr>
          <a:xfrm>
            <a:off x="8039100" y="42545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Belanosima"/>
              </a:rPr>
              <a:t>3</a:t>
            </a:r>
            <a:endParaRPr lang="en-US" sz="1100"/>
          </a:p>
        </p:txBody>
      </p:sp>
      <p:sp>
        <p:nvSpPr>
          <p:cNvPr id="32" name="TextBox 32"/>
          <p:cNvSpPr txBox="1"/>
          <p:nvPr/>
        </p:nvSpPr>
        <p:spPr>
          <a:xfrm>
            <a:off x="876300" y="42418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Phase 3: Months 7-9</a:t>
            </a:r>
            <a:endParaRPr lang="en-US" sz="1100"/>
          </a:p>
        </p:txBody>
      </p:sp>
      <p:sp>
        <p:nvSpPr>
          <p:cNvPr id="33" name="TextBox 33"/>
          <p:cNvSpPr txBox="1"/>
          <p:nvPr/>
        </p:nvSpPr>
        <p:spPr>
          <a:xfrm>
            <a:off x="8026400" y="53086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Belanosima"/>
              </a:rPr>
              <a:t>4</a:t>
            </a:r>
            <a:endParaRPr lang="en-US" sz="1100"/>
          </a:p>
        </p:txBody>
      </p:sp>
      <p:sp>
        <p:nvSpPr>
          <p:cNvPr id="34" name="TextBox 34"/>
          <p:cNvSpPr txBox="1"/>
          <p:nvPr/>
        </p:nvSpPr>
        <p:spPr>
          <a:xfrm>
            <a:off x="9385300" y="53086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Phase 4: Months 10-12</a:t>
            </a:r>
            <a:endParaRPr lang="en-US" sz="1100"/>
          </a:p>
        </p:txBody>
      </p:sp>
      <p:sp>
        <p:nvSpPr>
          <p:cNvPr id="35" name="TextBox 35"/>
          <p:cNvSpPr txBox="1"/>
          <p:nvPr/>
        </p:nvSpPr>
        <p:spPr>
          <a:xfrm>
            <a:off x="8039100" y="6375400"/>
            <a:ext cx="3048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FFFF"/>
                </a:solidFill>
                <a:highlight>
                  <a:srgbClr val="000000">
                    <a:alpha val="0"/>
                  </a:srgbClr>
                </a:highlight>
                <a:latin typeface="Belanosima"/>
              </a:rPr>
              <a:t>5</a:t>
            </a:r>
            <a:endParaRPr lang="en-US" sz="1100"/>
          </a:p>
        </p:txBody>
      </p:sp>
      <p:sp>
        <p:nvSpPr>
          <p:cNvPr id="36" name="TextBox 36"/>
          <p:cNvSpPr txBox="1"/>
          <p:nvPr/>
        </p:nvSpPr>
        <p:spPr>
          <a:xfrm>
            <a:off x="876300" y="6375400"/>
            <a:ext cx="5981700" cy="381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20000"/>
              </a:lnSpc>
              <a:defRPr/>
            </a:pPr>
            <a:r>
              <a:rPr lang="en-US" sz="2500" b="1">
                <a:solidFill>
                  <a:srgbClr val="FFDA75"/>
                </a:solidFill>
                <a:latin typeface="Belanosima"/>
              </a:rPr>
              <a:t>Phase 5: Months 13-18</a:t>
            </a:r>
            <a:endParaRPr lang="en-US" sz="1100"/>
          </a:p>
        </p:txBody>
      </p:sp>
      <p:sp>
        <p:nvSpPr>
          <p:cNvPr id="37" name="TextBox 37"/>
          <p:cNvSpPr txBox="1"/>
          <p:nvPr/>
        </p:nvSpPr>
        <p:spPr>
          <a:xfrm>
            <a:off x="876300" y="2438400"/>
            <a:ext cx="5981700" cy="95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Risk Assessment &amp; Baseline - Comprehensive vulnerability scanning and security posture evaluation.</a:t>
            </a:r>
            <a:endParaRPr lang="en-US" sz="1100"/>
          </a:p>
        </p:txBody>
      </p:sp>
      <p:sp>
        <p:nvSpPr>
          <p:cNvPr id="38" name="TextBox 38"/>
          <p:cNvSpPr txBox="1"/>
          <p:nvPr/>
        </p:nvSpPr>
        <p:spPr>
          <a:xfrm>
            <a:off x="9385300" y="3708400"/>
            <a:ext cx="5981700" cy="95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Network Hardening - Firewall deployment, micro-segmentation, and DMZ implementation.</a:t>
            </a:r>
            <a:endParaRPr lang="en-US" sz="1100"/>
          </a:p>
        </p:txBody>
      </p:sp>
      <p:sp>
        <p:nvSpPr>
          <p:cNvPr id="39" name="TextBox 39"/>
          <p:cNvSpPr txBox="1"/>
          <p:nvPr/>
        </p:nvSpPr>
        <p:spPr>
          <a:xfrm>
            <a:off x="876300" y="4775200"/>
            <a:ext cx="5981700" cy="952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Encryption Deployment - TLS 1.3 and AES-256 implementation, credential rotation across infrastructure.</a:t>
            </a:r>
            <a:endParaRPr lang="en-US" sz="1100"/>
          </a:p>
        </p:txBody>
      </p:sp>
      <p:sp>
        <p:nvSpPr>
          <p:cNvPr id="40" name="TextBox 40"/>
          <p:cNvSpPr txBox="1"/>
          <p:nvPr/>
        </p:nvSpPr>
        <p:spPr>
          <a:xfrm>
            <a:off x="9385300" y="5842000"/>
            <a:ext cx="59817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AI Security Controls - Model validation, input sanitization, adversarial robustness testing.</a:t>
            </a:r>
            <a:endParaRPr lang="en-US" sz="1100"/>
          </a:p>
        </p:txBody>
      </p:sp>
      <p:sp>
        <p:nvSpPr>
          <p:cNvPr id="41" name="TextBox 41"/>
          <p:cNvSpPr txBox="1"/>
          <p:nvPr/>
        </p:nvSpPr>
        <p:spPr>
          <a:xfrm>
            <a:off x="876300" y="6896100"/>
            <a:ext cx="5981700" cy="635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r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SOC Activation - 24/7 monitoring, continuous threat detection, incident response capability.</a:t>
            </a:r>
            <a:endParaRPr lang="en-US" sz="1100"/>
          </a:p>
        </p:txBody>
      </p:sp>
      <p:sp>
        <p:nvSpPr>
          <p:cNvPr id="42" name="TextBox 42"/>
          <p:cNvSpPr txBox="1"/>
          <p:nvPr/>
        </p:nvSpPr>
        <p:spPr>
          <a:xfrm>
            <a:off x="876300" y="8229600"/>
            <a:ext cx="14490700" cy="3175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Parallel track: Quarterly security awareness training and vendor security audits throughout all phases.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511300"/>
            <a:ext cx="14490700" cy="62230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511300"/>
            <a:ext cx="3429000" cy="4013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57300" y="1689100"/>
            <a:ext cx="520700" cy="520700"/>
          </a:xfrm>
          <a:prstGeom prst="roundRect">
            <a:avLst>
              <a:gd name="adj" fmla="val 4878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59300" y="1511300"/>
            <a:ext cx="3429000" cy="4013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940300" y="1689100"/>
            <a:ext cx="520700" cy="520700"/>
          </a:xfrm>
          <a:prstGeom prst="roundRect">
            <a:avLst>
              <a:gd name="adj" fmla="val 4878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242300" y="1511300"/>
            <a:ext cx="3429000" cy="4013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636000" y="1689100"/>
            <a:ext cx="520700" cy="520700"/>
          </a:xfrm>
          <a:prstGeom prst="roundRect">
            <a:avLst>
              <a:gd name="adj" fmla="val 4878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938000" y="1511300"/>
            <a:ext cx="3429000" cy="4013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319000" y="1689100"/>
            <a:ext cx="520700" cy="520700"/>
          </a:xfrm>
          <a:prstGeom prst="roundRect">
            <a:avLst>
              <a:gd name="adj" fmla="val 4878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5702300"/>
            <a:ext cx="14490700" cy="20193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257300" y="5892800"/>
            <a:ext cx="520700" cy="520700"/>
          </a:xfrm>
          <a:prstGeom prst="roundRect">
            <a:avLst>
              <a:gd name="adj" fmla="val 48780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AutoShape 15"/>
          <p:cNvSpPr/>
          <p:nvPr/>
        </p:nvSpPr>
        <p:spPr>
          <a:xfrm>
            <a:off x="876300" y="7937500"/>
            <a:ext cx="12700" cy="520700"/>
          </a:xfrm>
          <a:prstGeom prst="rect">
            <a:avLst/>
          </a:prstGeom>
          <a:solidFill>
            <a:srgbClr val="EBBD48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876300" y="469900"/>
            <a:ext cx="14490700" cy="8382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700" b="1">
                <a:solidFill>
                  <a:srgbClr val="FFDA75"/>
                </a:solidFill>
                <a:latin typeface="Belanosima"/>
              </a:rPr>
              <a:t>Penetration Testing Results: Validation of Defense Effectiveness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1143000" y="24003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DA75"/>
                </a:solidFill>
                <a:latin typeface="Belanosima"/>
              </a:rPr>
              <a:t>PLC Takeover Attempt - BLOCKED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4826000" y="2400300"/>
            <a:ext cx="2895600" cy="939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DA75"/>
                </a:solidFill>
                <a:latin typeface="Belanosima"/>
              </a:rPr>
              <a:t>Network Intrusion - BLOCKED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8509000" y="2400300"/>
            <a:ext cx="28956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DA75"/>
                </a:solidFill>
                <a:latin typeface="Belanosima"/>
              </a:rPr>
              <a:t>Cloud Data Exfiltration - PARTIALLY MITIGATED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2204700" y="2400300"/>
            <a:ext cx="2895600" cy="1257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DA75"/>
                </a:solidFill>
                <a:latin typeface="Belanosima"/>
              </a:rPr>
              <a:t>AI Model Manipulation - PARTIALLY MITIGATED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43000" y="6591300"/>
            <a:ext cx="139446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000" b="1">
                <a:solidFill>
                  <a:srgbClr val="FFDA75"/>
                </a:solidFill>
                <a:latin typeface="Belanosima"/>
              </a:rPr>
              <a:t>Phishing Attack - SUCCESSFUL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1143000" y="3454400"/>
            <a:ext cx="2895600" cy="1828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FFFFFF"/>
                </a:solidFill>
                <a:latin typeface="Poppins"/>
              </a:rPr>
              <a:t>MFA and network segmentation successfully prevented unauthorized control commands and manipulation.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4826000" y="3454400"/>
            <a:ext cx="28956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FFFFFF"/>
                </a:solidFill>
                <a:latin typeface="Poppins"/>
              </a:rPr>
              <a:t>DMZ firewall stopped intrusion; micro-segmentation prevented lateral movement across network zones.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8509000" y="3771900"/>
            <a:ext cx="2895600" cy="1041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FFFFFF"/>
                </a:solidFill>
                <a:latin typeface="Poppins"/>
              </a:rPr>
              <a:t>Encryption protected data integrity, but S3 bucket policies require additional hardening.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2204700" y="3771900"/>
            <a:ext cx="28956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FFFFFF"/>
                </a:solidFill>
                <a:latin typeface="Poppins"/>
              </a:rPr>
              <a:t>Input validation caught 78% of poisoned data injections; remaining gaps need strengthening.</a:t>
            </a:r>
            <a:endParaRPr lang="en-US" sz="1100"/>
          </a:p>
        </p:txBody>
      </p:sp>
      <p:sp>
        <p:nvSpPr>
          <p:cNvPr id="26" name="TextBox 26"/>
          <p:cNvSpPr txBox="1"/>
          <p:nvPr/>
        </p:nvSpPr>
        <p:spPr>
          <a:xfrm>
            <a:off x="1143000" y="7035800"/>
            <a:ext cx="139446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FFFFFF"/>
                </a:solidFill>
                <a:latin typeface="Poppins"/>
              </a:rPr>
              <a:t>15% employee click rate (down from 85% baseline) indicates continued human vulnerability requiring training.</a:t>
            </a:r>
            <a:endParaRPr lang="en-US" sz="1100"/>
          </a:p>
        </p:txBody>
      </p:sp>
      <p:sp>
        <p:nvSpPr>
          <p:cNvPr id="27" name="TextBox 27"/>
          <p:cNvSpPr txBox="1"/>
          <p:nvPr/>
        </p:nvSpPr>
        <p:spPr>
          <a:xfrm>
            <a:off x="1130300" y="7937500"/>
            <a:ext cx="14236700" cy="5207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300" b="1">
                <a:solidFill>
                  <a:srgbClr val="FFFFFF"/>
                </a:solidFill>
                <a:latin typeface="Poppins"/>
              </a:rPr>
              <a:t>Overall Security Posture: 80% effectiveness improvement over baseline, with identified gaps for continuous improvement.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1866900"/>
            <a:ext cx="165100" cy="1651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8100" y="1866900"/>
            <a:ext cx="165100" cy="1651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0" y="1866900"/>
            <a:ext cx="165100" cy="1651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6800" y="1866900"/>
            <a:ext cx="165100" cy="165100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100" y="6070600"/>
            <a:ext cx="165100" cy="16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AutoShape 4"/>
          <p:cNvSpPr/>
          <p:nvPr/>
        </p:nvSpPr>
        <p:spPr>
          <a:xfrm>
            <a:off x="876300" y="1803400"/>
            <a:ext cx="14490700" cy="67564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AutoShape 5"/>
          <p:cNvSpPr/>
          <p:nvPr/>
        </p:nvSpPr>
        <p:spPr>
          <a:xfrm>
            <a:off x="876300" y="1803400"/>
            <a:ext cx="3429000" cy="44323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2065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>
            <a:off x="4559300" y="1803400"/>
            <a:ext cx="3429000" cy="44323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>
            <a:off x="48895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9" name="AutoShape 9"/>
          <p:cNvSpPr/>
          <p:nvPr/>
        </p:nvSpPr>
        <p:spPr>
          <a:xfrm>
            <a:off x="8242300" y="1803400"/>
            <a:ext cx="3429000" cy="44323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AutoShape 10"/>
          <p:cNvSpPr/>
          <p:nvPr/>
        </p:nvSpPr>
        <p:spPr>
          <a:xfrm>
            <a:off x="85852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1" name="AutoShape 11"/>
          <p:cNvSpPr/>
          <p:nvPr/>
        </p:nvSpPr>
        <p:spPr>
          <a:xfrm>
            <a:off x="11938000" y="1803400"/>
            <a:ext cx="3429000" cy="44323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AutoShape 12"/>
          <p:cNvSpPr/>
          <p:nvPr/>
        </p:nvSpPr>
        <p:spPr>
          <a:xfrm>
            <a:off x="12268200" y="20320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3" name="AutoShape 13"/>
          <p:cNvSpPr/>
          <p:nvPr/>
        </p:nvSpPr>
        <p:spPr>
          <a:xfrm>
            <a:off x="876300" y="6451600"/>
            <a:ext cx="14490700" cy="2108200"/>
          </a:xfrm>
          <a:prstGeom prst="rect">
            <a:avLst/>
          </a:prstGeom>
          <a:solidFill>
            <a:srgbClr val="5C4E16">
              <a:alpha val="74902"/>
            </a:srgbClr>
          </a:solidFill>
          <a:ln w="12700">
            <a:solidFill>
              <a:srgbClr val="A99428">
                <a:alpha val="72941"/>
              </a:srgbClr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1206500" y="6667500"/>
            <a:ext cx="622300" cy="622300"/>
          </a:xfrm>
          <a:prstGeom prst="roundRect">
            <a:avLst>
              <a:gd name="adj" fmla="val 48979"/>
            </a:avLst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876300" y="571500"/>
            <a:ext cx="14490700" cy="990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3200" b="1">
                <a:solidFill>
                  <a:srgbClr val="FFDA75"/>
                </a:solidFill>
                <a:latin typeface="Belanosima"/>
              </a:rPr>
              <a:t>Continuous Improvement Priorities: Five Strategic Enhancements</a:t>
            </a:r>
            <a:endParaRPr lang="en-US" sz="1100"/>
          </a:p>
        </p:txBody>
      </p:sp>
      <p:sp>
        <p:nvSpPr>
          <p:cNvPr id="16" name="TextBox 16"/>
          <p:cNvSpPr txBox="1"/>
          <p:nvPr/>
        </p:nvSpPr>
        <p:spPr>
          <a:xfrm>
            <a:off x="1143000" y="2857500"/>
            <a:ext cx="28956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Strengthen AI Input Validation</a:t>
            </a:r>
            <a:endParaRPr lang="en-US" sz="1100"/>
          </a:p>
        </p:txBody>
      </p:sp>
      <p:sp>
        <p:nvSpPr>
          <p:cNvPr id="17" name="TextBox 17"/>
          <p:cNvSpPr txBox="1"/>
          <p:nvPr/>
        </p:nvSpPr>
        <p:spPr>
          <a:xfrm>
            <a:off x="4826000" y="2857500"/>
            <a:ext cx="28956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Zero Trust Architecture Migration</a:t>
            </a:r>
            <a:endParaRPr lang="en-US" sz="1100"/>
          </a:p>
        </p:txBody>
      </p:sp>
      <p:sp>
        <p:nvSpPr>
          <p:cNvPr id="18" name="TextBox 18"/>
          <p:cNvSpPr txBox="1"/>
          <p:nvPr/>
        </p:nvSpPr>
        <p:spPr>
          <a:xfrm>
            <a:off x="8509000" y="2857500"/>
            <a:ext cx="28956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Enhanced Vendor Security Monitoring</a:t>
            </a:r>
            <a:endParaRPr lang="en-US" sz="1100"/>
          </a:p>
        </p:txBody>
      </p:sp>
      <p:sp>
        <p:nvSpPr>
          <p:cNvPr id="19" name="TextBox 19"/>
          <p:cNvSpPr txBox="1"/>
          <p:nvPr/>
        </p:nvSpPr>
        <p:spPr>
          <a:xfrm>
            <a:off x="12204700" y="2857500"/>
            <a:ext cx="2895600" cy="1117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Intensive Cybersecurity Awareness</a:t>
            </a:r>
            <a:endParaRPr lang="en-US" sz="1100"/>
          </a:p>
        </p:txBody>
      </p:sp>
      <p:sp>
        <p:nvSpPr>
          <p:cNvPr id="20" name="TextBox 20"/>
          <p:cNvSpPr txBox="1"/>
          <p:nvPr/>
        </p:nvSpPr>
        <p:spPr>
          <a:xfrm>
            <a:off x="1143000" y="7505700"/>
            <a:ext cx="13944600" cy="368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20000"/>
              </a:lnSpc>
              <a:defRPr/>
            </a:pPr>
            <a:r>
              <a:rPr lang="en-US" sz="2400" b="1">
                <a:solidFill>
                  <a:srgbClr val="FFDA75"/>
                </a:solidFill>
                <a:latin typeface="Belanosima"/>
              </a:rPr>
              <a:t>Automated Firmware Patching</a:t>
            </a:r>
            <a:endParaRPr lang="en-US" sz="1100"/>
          </a:p>
        </p:txBody>
      </p:sp>
      <p:sp>
        <p:nvSpPr>
          <p:cNvPr id="21" name="TextBox 21"/>
          <p:cNvSpPr txBox="1"/>
          <p:nvPr/>
        </p:nvSpPr>
        <p:spPr>
          <a:xfrm>
            <a:off x="1143000" y="4140200"/>
            <a:ext cx="28956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Implement robust data sanitization and enhanced anomaly detection at edge nodes to prevent model poisoning.</a:t>
            </a:r>
            <a:endParaRPr lang="en-US" sz="1100"/>
          </a:p>
        </p:txBody>
      </p:sp>
      <p:sp>
        <p:nvSpPr>
          <p:cNvPr id="22" name="TextBox 22"/>
          <p:cNvSpPr txBox="1"/>
          <p:nvPr/>
        </p:nvSpPr>
        <p:spPr>
          <a:xfrm>
            <a:off x="4826000" y="4140200"/>
            <a:ext cx="2895600" cy="18796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Transition from perimeter-based to identity-based continuous verification for all system access.</a:t>
            </a:r>
            <a:endParaRPr lang="en-US" sz="1100"/>
          </a:p>
        </p:txBody>
      </p:sp>
      <p:sp>
        <p:nvSpPr>
          <p:cNvPr id="23" name="TextBox 23"/>
          <p:cNvSpPr txBox="1"/>
          <p:nvPr/>
        </p:nvSpPr>
        <p:spPr>
          <a:xfrm>
            <a:off x="8509000" y="4140200"/>
            <a:ext cx="28956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Deploy real-time session recording and behavioral analytics for all third-party access activities.</a:t>
            </a:r>
            <a:endParaRPr lang="en-US" sz="1100"/>
          </a:p>
        </p:txBody>
      </p:sp>
      <p:sp>
        <p:nvSpPr>
          <p:cNvPr id="24" name="TextBox 24"/>
          <p:cNvSpPr txBox="1"/>
          <p:nvPr/>
        </p:nvSpPr>
        <p:spPr>
          <a:xfrm>
            <a:off x="12204700" y="4140200"/>
            <a:ext cx="2895600" cy="15621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Quarterly phishing simulations, micro-learning modules, and role-specific security training programs.</a:t>
            </a:r>
            <a:endParaRPr lang="en-US" sz="1100"/>
          </a:p>
        </p:txBody>
      </p:sp>
      <p:sp>
        <p:nvSpPr>
          <p:cNvPr id="25" name="TextBox 25"/>
          <p:cNvSpPr txBox="1"/>
          <p:nvPr/>
        </p:nvSpPr>
        <p:spPr>
          <a:xfrm>
            <a:off x="1143000" y="8026400"/>
            <a:ext cx="13944600" cy="3048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1">
                <a:solidFill>
                  <a:srgbClr val="FFFFFF"/>
                </a:solidFill>
                <a:latin typeface="Poppins"/>
              </a:rPr>
              <a:t>Centralized patch management system with automated regression testing and deployment capabilities.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03200" cy="2032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2235200"/>
            <a:ext cx="203200" cy="20320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400" y="2235200"/>
            <a:ext cx="203200" cy="203200"/>
          </a:xfrm>
          <a:prstGeom prst="rect">
            <a:avLst/>
          </a:prstGeom>
        </p:spPr>
      </p:pic>
      <p:pic>
        <p:nvPicPr>
          <p:cNvPr id="29" name="Picture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71400" y="2235200"/>
            <a:ext cx="203200" cy="2032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6883400"/>
            <a:ext cx="203200" cy="20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0D0A2C">
              <a:alpha val="74902"/>
            </a:srgbClr>
          </a:solidFill>
        </p:spPr>
        <p:txBody>
          <a:bodyPr/>
          <a:lstStyle/>
          <a:p>
            <a:endParaRPr lang="en-US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l="44" r="44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solidFill>
            <a:srgbClr val="1D1103">
              <a:alpha val="76863"/>
            </a:srgbClr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876300" y="3289300"/>
            <a:ext cx="14490700" cy="749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4900" b="1">
                <a:solidFill>
                  <a:srgbClr val="FFDA75"/>
                </a:solidFill>
                <a:latin typeface="Belanosima"/>
              </a:rPr>
              <a:t>Securing the Future of Smart Manufacturing</a:t>
            </a:r>
            <a:endParaRPr lang="en-US" sz="1100"/>
          </a:p>
        </p:txBody>
      </p:sp>
      <p:sp>
        <p:nvSpPr>
          <p:cNvPr id="7" name="TextBox 7"/>
          <p:cNvSpPr txBox="1"/>
          <p:nvPr/>
        </p:nvSpPr>
        <p:spPr>
          <a:xfrm>
            <a:off x="876300" y="4330700"/>
            <a:ext cx="14490700" cy="151130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 lIns="0" tIns="0" rIns="0" bIns="0" rtlCol="0" anchor="ctr"/>
          <a:lstStyle/>
          <a:p>
            <a:pPr indent="0" algn="ctr">
              <a:lnSpc>
                <a:spcPct val="160000"/>
              </a:lnSpc>
              <a:defRPr/>
            </a:pP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elanosima"/>
              </a:rPr>
              <a:t>AI-integrated </a:t>
            </a:r>
            <a:r>
              <a:rPr lang="en-US" sz="1600" b="1" dirty="0" err="1">
                <a:solidFill>
                  <a:schemeClr val="tx2">
                    <a:lumMod val="20000"/>
                    <a:lumOff val="80000"/>
                  </a:schemeClr>
                </a:solidFill>
                <a:latin typeface="Belanosima"/>
              </a:rPr>
              <a:t>IIoT</a:t>
            </a: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elanosima"/>
              </a:rPr>
              <a:t> systems demand holistic defense strategies unifying technical controls, AI protections, and human resilience. </a:t>
            </a:r>
          </a:p>
          <a:p>
            <a:pPr indent="0" algn="ctr">
              <a:lnSpc>
                <a:spcPct val="160000"/>
              </a:lnSpc>
              <a:defRPr/>
            </a:pPr>
            <a:r>
              <a:rPr lang="en-US" sz="1600" b="1" dirty="0">
                <a:solidFill>
                  <a:schemeClr val="tx2">
                    <a:lumMod val="20000"/>
                    <a:lumOff val="80000"/>
                  </a:schemeClr>
                </a:solidFill>
                <a:latin typeface="Belanosima"/>
              </a:rPr>
              <a:t>THANK YOU.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1098</Words>
  <Application>Microsoft Office PowerPoint</Application>
  <PresentationFormat>Custom</PresentationFormat>
  <Paragraphs>138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Belanosima</vt:lpstr>
      <vt:lpstr>Calibri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ruben.valenzuela-W213684051</cp:lastModifiedBy>
  <cp:revision>2</cp:revision>
  <dcterms:created xsi:type="dcterms:W3CDTF">2006-08-16T00:00:00Z</dcterms:created>
  <dcterms:modified xsi:type="dcterms:W3CDTF">2026-04-02T14:46:35Z</dcterms:modified>
</cp:coreProperties>
</file>